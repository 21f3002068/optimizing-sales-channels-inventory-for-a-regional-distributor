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BIZ UDPMincho" panose="020B0604020202020204" charset="-128"/>
      <p:regular r:id="rId13"/>
      <p:bold r:id="rId14"/>
    </p:embeddedFont>
    <p:embeddedFont>
      <p:font typeface="Bebas Neue" panose="020F0502020204030204" pitchFamily="34" charset="0"/>
      <p:regular r:id="rId15"/>
    </p:embeddedFont>
    <p:embeddedFont>
      <p:font typeface="Chakra Petch" panose="020B0604020202020204" charset="-34"/>
      <p:regular r:id="rId16"/>
      <p:bold r:id="rId17"/>
      <p:italic r:id="rId18"/>
      <p:boldItalic r:id="rId19"/>
    </p:embeddedFont>
    <p:embeddedFont>
      <p:font typeface="Chakra Petch SemiBold" panose="020B0604020202020204" charset="-34"/>
      <p:regular r:id="rId20"/>
      <p:bold r:id="rId21"/>
      <p:italic r:id="rId22"/>
      <p:boldItalic r:id="rId23"/>
    </p:embeddedFont>
    <p:embeddedFont>
      <p:font typeface="Hanken Grotesk" panose="020B0604020202020204" charset="0"/>
      <p:regular r:id="rId24"/>
      <p:bold r:id="rId25"/>
      <p:italic r:id="rId26"/>
      <p:boldItalic r:id="rId27"/>
    </p:embeddedFont>
    <p:embeddedFont>
      <p:font typeface="Hanken Grotesk Light" panose="020B0604020202020204" charset="0"/>
      <p:regular r:id="rId28"/>
      <p:bold r:id="rId29"/>
      <p:italic r:id="rId30"/>
      <p:boldItalic r:id="rId31"/>
    </p:embeddedFont>
    <p:embeddedFont>
      <p:font typeface="Hanken Grotesk Medium" panose="020B0604020202020204" charset="0"/>
      <p:regular r:id="rId32"/>
      <p:bold r:id="rId33"/>
      <p:italic r:id="rId34"/>
      <p:boldItalic r:id="rId35"/>
    </p:embeddedFont>
    <p:embeddedFont>
      <p:font typeface="Hanken Grotesk SemiBold" panose="020B0604020202020204" charset="0"/>
      <p:regular r:id="rId36"/>
      <p:bold r:id="rId37"/>
      <p:italic r:id="rId38"/>
      <p:boldItalic r:id="rId39"/>
    </p:embeddedFont>
    <p:embeddedFont>
      <p:font typeface="Heebo ExtraLight" panose="020B0604020202020204" charset="-79"/>
      <p:regular r:id="rId40"/>
      <p:bold r:id="rId41"/>
    </p:embeddedFont>
    <p:embeddedFont>
      <p:font typeface="Heebo Light" panose="020F0502020204030204" pitchFamily="2" charset="-79"/>
      <p:regular r:id="rId42"/>
      <p:bold r:id="rId43"/>
    </p:embeddedFont>
    <p:embeddedFont>
      <p:font typeface="Neuton" panose="020B0604020202020204" charset="0"/>
      <p:regular r:id="rId44"/>
      <p:bold r:id="rId45"/>
      <p:italic r:id="rId46"/>
    </p:embeddedFont>
    <p:embeddedFont>
      <p:font typeface="Neuton ExtraLight" panose="020B0604020202020204" charset="0"/>
      <p:regular r:id="rId47"/>
      <p:bold r:id="rId48"/>
      <p:boldItalic r:id="rId49"/>
    </p:embeddedFont>
    <p:embeddedFont>
      <p:font typeface="Neuton Light" panose="020B0604020202020204" charset="0"/>
      <p:regular r:id="rId50"/>
      <p:bold r:id="rId51"/>
      <p:boldItalic r:id="rId52"/>
    </p:embeddedFont>
    <p:embeddedFont>
      <p:font typeface="Onest" panose="020B0604020202020204" charset="0"/>
      <p:regular r:id="rId53"/>
      <p:bold r:id="rId54"/>
    </p:embeddedFont>
    <p:embeddedFont>
      <p:font typeface="Onest Thin" panose="020B0604020202020204" charset="0"/>
      <p:regular r:id="rId55"/>
      <p:bold r:id="rId56"/>
    </p:embeddedFont>
    <p:embeddedFont>
      <p:font typeface="Playfair Display" panose="020F0502020204030204" pitchFamily="2" charset="0"/>
      <p:regular r:id="rId57"/>
      <p:bold r:id="rId58"/>
      <p:italic r:id="rId59"/>
      <p:boldItalic r:id="rId60"/>
    </p:embeddedFont>
    <p:embeddedFont>
      <p:font typeface="Red Hat Text" panose="020B0604020202020204" charset="0"/>
      <p:regular r:id="rId61"/>
      <p:bold r:id="rId62"/>
      <p:italic r:id="rId63"/>
      <p:boldItalic r:id="rId64"/>
    </p:embeddedFont>
    <p:embeddedFont>
      <p:font typeface="Roboto" panose="02000000000000000000" pitchFamily="2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CBF7CB-AC3C-427F-857B-167589B0C38D}">
  <a:tblStyle styleId="{6ACBF7CB-AC3C-427F-857B-167589B0C3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font14.fntdata"/><Relationship Id="rId21" Type="http://schemas.openxmlformats.org/officeDocument/2006/relationships/font" Target="fonts/font9.fntdata"/><Relationship Id="rId42" Type="http://schemas.openxmlformats.org/officeDocument/2006/relationships/font" Target="fonts/font30.fntdata"/><Relationship Id="rId47" Type="http://schemas.openxmlformats.org/officeDocument/2006/relationships/font" Target="fonts/font35.fntdata"/><Relationship Id="rId63" Type="http://schemas.openxmlformats.org/officeDocument/2006/relationships/font" Target="fonts/font51.fntdata"/><Relationship Id="rId68" Type="http://schemas.openxmlformats.org/officeDocument/2006/relationships/font" Target="fonts/font56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9" Type="http://schemas.openxmlformats.org/officeDocument/2006/relationships/font" Target="fonts/font17.fntdata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font" Target="fonts/font25.fntdata"/><Relationship Id="rId40" Type="http://schemas.openxmlformats.org/officeDocument/2006/relationships/font" Target="fonts/font28.fntdata"/><Relationship Id="rId45" Type="http://schemas.openxmlformats.org/officeDocument/2006/relationships/font" Target="fonts/font33.fntdata"/><Relationship Id="rId53" Type="http://schemas.openxmlformats.org/officeDocument/2006/relationships/font" Target="fonts/font41.fntdata"/><Relationship Id="rId58" Type="http://schemas.openxmlformats.org/officeDocument/2006/relationships/font" Target="fonts/font46.fntdata"/><Relationship Id="rId66" Type="http://schemas.openxmlformats.org/officeDocument/2006/relationships/font" Target="fonts/font54.fntdata"/><Relationship Id="rId5" Type="http://schemas.openxmlformats.org/officeDocument/2006/relationships/slide" Target="slides/slide4.xml"/><Relationship Id="rId61" Type="http://schemas.openxmlformats.org/officeDocument/2006/relationships/font" Target="fonts/font49.fntdata"/><Relationship Id="rId19" Type="http://schemas.openxmlformats.org/officeDocument/2006/relationships/font" Target="fonts/font7.fntdata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43" Type="http://schemas.openxmlformats.org/officeDocument/2006/relationships/font" Target="fonts/font31.fntdata"/><Relationship Id="rId48" Type="http://schemas.openxmlformats.org/officeDocument/2006/relationships/font" Target="fonts/font36.fntdata"/><Relationship Id="rId56" Type="http://schemas.openxmlformats.org/officeDocument/2006/relationships/font" Target="fonts/font44.fntdata"/><Relationship Id="rId64" Type="http://schemas.openxmlformats.org/officeDocument/2006/relationships/font" Target="fonts/font52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9.fntdata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font" Target="fonts/font26.fntdata"/><Relationship Id="rId46" Type="http://schemas.openxmlformats.org/officeDocument/2006/relationships/font" Target="fonts/font34.fntdata"/><Relationship Id="rId59" Type="http://schemas.openxmlformats.org/officeDocument/2006/relationships/font" Target="fonts/font47.fntdata"/><Relationship Id="rId67" Type="http://schemas.openxmlformats.org/officeDocument/2006/relationships/font" Target="fonts/font55.fntdata"/><Relationship Id="rId20" Type="http://schemas.openxmlformats.org/officeDocument/2006/relationships/font" Target="fonts/font8.fntdata"/><Relationship Id="rId41" Type="http://schemas.openxmlformats.org/officeDocument/2006/relationships/font" Target="fonts/font29.fntdata"/><Relationship Id="rId54" Type="http://schemas.openxmlformats.org/officeDocument/2006/relationships/font" Target="fonts/font42.fntdata"/><Relationship Id="rId62" Type="http://schemas.openxmlformats.org/officeDocument/2006/relationships/font" Target="fonts/font50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font" Target="fonts/font24.fntdata"/><Relationship Id="rId49" Type="http://schemas.openxmlformats.org/officeDocument/2006/relationships/font" Target="fonts/font37.fntdata"/><Relationship Id="rId57" Type="http://schemas.openxmlformats.org/officeDocument/2006/relationships/font" Target="fonts/font45.fntdata"/><Relationship Id="rId10" Type="http://schemas.openxmlformats.org/officeDocument/2006/relationships/slide" Target="slides/slide9.xml"/><Relationship Id="rId31" Type="http://schemas.openxmlformats.org/officeDocument/2006/relationships/font" Target="fonts/font19.fntdata"/><Relationship Id="rId44" Type="http://schemas.openxmlformats.org/officeDocument/2006/relationships/font" Target="fonts/font32.fntdata"/><Relationship Id="rId52" Type="http://schemas.openxmlformats.org/officeDocument/2006/relationships/font" Target="fonts/font40.fntdata"/><Relationship Id="rId60" Type="http://schemas.openxmlformats.org/officeDocument/2006/relationships/font" Target="fonts/font48.fntdata"/><Relationship Id="rId65" Type="http://schemas.openxmlformats.org/officeDocument/2006/relationships/font" Target="fonts/font5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9" Type="http://schemas.openxmlformats.org/officeDocument/2006/relationships/font" Target="fonts/font27.fntdata"/><Relationship Id="rId34" Type="http://schemas.openxmlformats.org/officeDocument/2006/relationships/font" Target="fonts/font22.fntdata"/><Relationship Id="rId50" Type="http://schemas.openxmlformats.org/officeDocument/2006/relationships/font" Target="fonts/font38.fntdata"/><Relationship Id="rId55" Type="http://schemas.openxmlformats.org/officeDocument/2006/relationships/font" Target="fonts/font4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6f50b251b9_0_1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6f50b251b9_0_1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6f50b251b9_0_20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6f50b251b9_0_20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81067a421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81067a421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81067a421c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81067a421c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81067a421c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81067a421c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6f90ec5d1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6f90ec5d1c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81067a421c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381067a421c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81067a421c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81067a421c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818be73e7c_0_1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818be73e7c_0_16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81067a421c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81067a421c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ackground">
  <p:cSld name="CUSTOM"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3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4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CUSTOM_7_1_1_1_1_1_1_1_1_1_1_1_1_1_1_1_1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2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3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4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5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6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7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8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9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3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4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5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16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7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ubTitle" idx="18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9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20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ubTitle" idx="21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22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subTitle" idx="23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Folder Orange">
  <p:cSld name="CUSTOM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>
            <a:spLocks noGrp="1"/>
          </p:cNvSpPr>
          <p:nvPr>
            <p:ph type="subTitle" idx="3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ubTitle" idx="4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title" idx="5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title" idx="6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>
            <a:spLocks noGrp="1"/>
          </p:cNvSpPr>
          <p:nvPr>
            <p:ph type="title" idx="7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title" idx="8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 idx="9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>
            <a:spLocks noGrp="1"/>
          </p:cNvSpPr>
          <p:nvPr>
            <p:ph type="pic" idx="13"/>
          </p:nvPr>
        </p:nvSpPr>
        <p:spPr>
          <a:xfrm>
            <a:off x="325850" y="928525"/>
            <a:ext cx="930900" cy="930900"/>
          </a:xfrm>
          <a:prstGeom prst="roundRect">
            <a:avLst>
              <a:gd name="adj" fmla="val 12343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>
            <a:spLocks noGrp="1"/>
          </p:cNvSpPr>
          <p:nvPr>
            <p:ph type="pic" idx="14"/>
          </p:nvPr>
        </p:nvSpPr>
        <p:spPr>
          <a:xfrm>
            <a:off x="325850" y="2396325"/>
            <a:ext cx="930900" cy="930900"/>
          </a:xfrm>
          <a:prstGeom prst="roundRect">
            <a:avLst>
              <a:gd name="adj" fmla="val 12343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>
            <a:spLocks noGrp="1"/>
          </p:cNvSpPr>
          <p:nvPr>
            <p:ph type="pic" idx="15"/>
          </p:nvPr>
        </p:nvSpPr>
        <p:spPr>
          <a:xfrm>
            <a:off x="325850" y="3849175"/>
            <a:ext cx="930900" cy="930900"/>
          </a:xfrm>
          <a:prstGeom prst="roundRect">
            <a:avLst>
              <a:gd name="adj" fmla="val 12343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>
            <a:spLocks noGrp="1"/>
          </p:cNvSpPr>
          <p:nvPr>
            <p:ph type="body" idx="16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4"/>
          <p:cNvSpPr txBox="1">
            <a:spLocks noGrp="1"/>
          </p:cNvSpPr>
          <p:nvPr>
            <p:ph type="body" idx="17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body" idx="18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Folder Orange 2">
  <p:cSld name="CUSTOM_1_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3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4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title" idx="5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title" idx="6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title" idx="7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title" idx="8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 idx="9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>
            <a:spLocks noGrp="1"/>
          </p:cNvSpPr>
          <p:nvPr>
            <p:ph type="pic" idx="13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>
            <a:spLocks noGrp="1"/>
          </p:cNvSpPr>
          <p:nvPr>
            <p:ph type="pic" idx="14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>
            <a:spLocks noGrp="1"/>
          </p:cNvSpPr>
          <p:nvPr>
            <p:ph type="pic" idx="15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>
            <a:spLocks noGrp="1"/>
          </p:cNvSpPr>
          <p:nvPr>
            <p:ph type="pic" idx="16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>
            <a:spLocks noGrp="1"/>
          </p:cNvSpPr>
          <p:nvPr>
            <p:ph type="pic" idx="17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>
            <a:spLocks noGrp="1"/>
          </p:cNvSpPr>
          <p:nvPr>
            <p:ph type="pic" idx="18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>
            <a:spLocks noGrp="1"/>
          </p:cNvSpPr>
          <p:nvPr>
            <p:ph type="title" idx="19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20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body" idx="21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body" idx="22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body" idx="23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24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body" idx="25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Folder">
  <p:cSld name="BLANK_1_1_1_1">
    <p:bg>
      <p:bgPr>
        <a:solidFill>
          <a:schemeClr val="dk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name="adj" fmla="val 540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>
            <a:spLocks noGrp="1"/>
          </p:cNvSpPr>
          <p:nvPr>
            <p:ph type="subTitle" idx="1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0" name="Google Shape;90;p6"/>
          <p:cNvSpPr txBox="1">
            <a:spLocks noGrp="1"/>
          </p:cNvSpPr>
          <p:nvPr>
            <p:ph type="body" idx="2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91" name="Google Shape;91;p6"/>
          <p:cNvSpPr txBox="1">
            <a:spLocks noGrp="1"/>
          </p:cNvSpPr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7_1_1_1_1_1_1_1_1_1_1_1_1_1_1_1_1_2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spcFirstLastPara="1" wrap="square" lIns="108000" tIns="0" rIns="10800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7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title" idx="2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spcFirstLastPara="1" wrap="square" lIns="252000" tIns="0" rIns="252000" bIns="10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name="adj" fmla="val 5925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name="adj" fmla="val 5925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name="adj" fmla="val 592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name="adj" fmla="val 59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Sections Grey">
  <p:cSld name="BLANK_1_1_1_1_1_1_1_1">
    <p:bg>
      <p:bgPr>
        <a:solidFill>
          <a:schemeClr val="dk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>
            <a:spLocks noGrp="1"/>
          </p:cNvSpPr>
          <p:nvPr>
            <p:ph type="body" idx="1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spcFirstLastPara="1" wrap="square" lIns="180000" tIns="18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subTitle" idx="2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subTitle" idx="3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body" idx="4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spcFirstLastPara="1" wrap="square" lIns="180000" tIns="18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8"/>
          <p:cNvSpPr txBox="1">
            <a:spLocks noGrp="1"/>
          </p:cNvSpPr>
          <p:nvPr>
            <p:ph type="subTitle" idx="5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subTitle" idx="6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body" idx="7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spcFirstLastPara="1" wrap="square" lIns="180000" tIns="18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subTitle" idx="8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8"/>
          <p:cNvSpPr txBox="1">
            <a:spLocks noGrp="1"/>
          </p:cNvSpPr>
          <p:nvPr>
            <p:ph type="body" idx="9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spcFirstLastPara="1" wrap="square" lIns="180000" tIns="18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Data folders">
  <p:cSld name="CUSTOM_7_1_1_1_1_1_1_1_1_1_1_1_1_1_1_1_1_3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21" name="Google Shape;121;p9"/>
          <p:cNvSpPr txBox="1">
            <a:spLocks noGrp="1"/>
          </p:cNvSpPr>
          <p:nvPr>
            <p:ph type="title" idx="2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title" idx="3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title" idx="4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title" idx="5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title" idx="6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title" idx="7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title" idx="8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body" idx="9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9"/>
          <p:cNvSpPr txBox="1">
            <a:spLocks noGrp="1"/>
          </p:cNvSpPr>
          <p:nvPr>
            <p:ph type="body" idx="13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9"/>
          <p:cNvSpPr txBox="1">
            <a:spLocks noGrp="1"/>
          </p:cNvSpPr>
          <p:nvPr>
            <p:ph type="body" idx="14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body" idx="15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Data Folders">
  <p:cSld name="CUSTOM_7_1_1_1_1_1_1_1_1_1_1_1_1_1_1_1_1_4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>
            <a:spLocks noGrp="1"/>
          </p:cNvSpPr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 idx="2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37" name="Google Shape;137;p10"/>
          <p:cNvSpPr txBox="1">
            <a:spLocks noGrp="1"/>
          </p:cNvSpPr>
          <p:nvPr>
            <p:ph type="title" idx="3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38" name="Google Shape;138;p10"/>
          <p:cNvSpPr txBox="1">
            <a:spLocks noGrp="1"/>
          </p:cNvSpPr>
          <p:nvPr>
            <p:ph type="body" idx="4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spcFirstLastPara="1" wrap="square" lIns="180000" tIns="27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10"/>
          <p:cNvSpPr txBox="1">
            <a:spLocks noGrp="1"/>
          </p:cNvSpPr>
          <p:nvPr>
            <p:ph type="body" idx="5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spcFirstLastPara="1" wrap="square" lIns="180000" tIns="27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6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spcFirstLastPara="1" wrap="square" lIns="180000" tIns="27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CUSTOM_7_1_1_1_1_1_1_1_1_1_1_1_1_1_1_1_1_5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43" name="Google Shape;143;p11"/>
          <p:cNvSpPr txBox="1">
            <a:spLocks noGrp="1"/>
          </p:cNvSpPr>
          <p:nvPr>
            <p:ph type="title" idx="2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44" name="Google Shape;144;p11"/>
          <p:cNvSpPr txBox="1">
            <a:spLocks noGrp="1"/>
          </p:cNvSpPr>
          <p:nvPr>
            <p:ph type="title" idx="3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45" name="Google Shape;145;p11"/>
          <p:cNvSpPr txBox="1">
            <a:spLocks noGrp="1"/>
          </p:cNvSpPr>
          <p:nvPr>
            <p:ph type="title" idx="4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46" name="Google Shape;146;p11"/>
          <p:cNvSpPr txBox="1">
            <a:spLocks noGrp="1"/>
          </p:cNvSpPr>
          <p:nvPr>
            <p:ph type="title" idx="5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47" name="Google Shape;147;p11"/>
          <p:cNvSpPr txBox="1">
            <a:spLocks noGrp="1"/>
          </p:cNvSpPr>
          <p:nvPr>
            <p:ph type="title" idx="6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48" name="Google Shape;148;p11"/>
          <p:cNvSpPr txBox="1">
            <a:spLocks noGrp="1"/>
          </p:cNvSpPr>
          <p:nvPr>
            <p:ph type="title" idx="7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49" name="Google Shape;149;p11"/>
          <p:cNvSpPr txBox="1">
            <a:spLocks noGrp="1"/>
          </p:cNvSpPr>
          <p:nvPr>
            <p:ph type="title" idx="8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0" name="Google Shape;150;p11"/>
          <p:cNvSpPr txBox="1">
            <a:spLocks noGrp="1"/>
          </p:cNvSpPr>
          <p:nvPr>
            <p:ph type="title" idx="9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1" name="Google Shape;151;p11"/>
          <p:cNvSpPr txBox="1">
            <a:spLocks noGrp="1"/>
          </p:cNvSpPr>
          <p:nvPr>
            <p:ph type="title" idx="13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2" name="Google Shape;152;p11"/>
          <p:cNvSpPr txBox="1">
            <a:spLocks noGrp="1"/>
          </p:cNvSpPr>
          <p:nvPr>
            <p:ph type="title" idx="14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3" name="Google Shape;153;p11"/>
          <p:cNvSpPr txBox="1">
            <a:spLocks noGrp="1"/>
          </p:cNvSpPr>
          <p:nvPr>
            <p:ph type="title" idx="15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4" name="Google Shape;154;p11"/>
          <p:cNvSpPr txBox="1">
            <a:spLocks noGrp="1"/>
          </p:cNvSpPr>
          <p:nvPr>
            <p:ph type="title" idx="16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5" name="Google Shape;155;p11"/>
          <p:cNvSpPr txBox="1">
            <a:spLocks noGrp="1"/>
          </p:cNvSpPr>
          <p:nvPr>
            <p:ph type="title" idx="17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57" name="Google Shape;157;p11"/>
          <p:cNvSpPr txBox="1">
            <a:spLocks noGrp="1"/>
          </p:cNvSpPr>
          <p:nvPr>
            <p:ph type="body" idx="18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1"/>
          <p:cNvSpPr txBox="1">
            <a:spLocks noGrp="1"/>
          </p:cNvSpPr>
          <p:nvPr>
            <p:ph type="body" idx="19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11"/>
          <p:cNvSpPr txBox="1">
            <a:spLocks noGrp="1"/>
          </p:cNvSpPr>
          <p:nvPr>
            <p:ph type="body" idx="20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title" idx="21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61" name="Google Shape;161;p11"/>
          <p:cNvSpPr txBox="1">
            <a:spLocks noGrp="1"/>
          </p:cNvSpPr>
          <p:nvPr>
            <p:ph type="body" idx="22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11"/>
          <p:cNvSpPr txBox="1">
            <a:spLocks noGrp="1"/>
          </p:cNvSpPr>
          <p:nvPr>
            <p:ph type="body" idx="23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11"/>
          <p:cNvSpPr txBox="1">
            <a:spLocks noGrp="1"/>
          </p:cNvSpPr>
          <p:nvPr>
            <p:ph type="body" idx="24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body" idx="25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body" idx="26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1"/>
          <p:cNvSpPr txBox="1">
            <a:spLocks noGrp="1"/>
          </p:cNvSpPr>
          <p:nvPr>
            <p:ph type="body" idx="27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image ">
  <p:cSld name="CUSTOM_7_1_1_1_1_1_1_1_1_1_1_1_1_1_1_1_1_5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>
            <a:spLocks noGrp="1"/>
          </p:cNvSpPr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 idx="2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70" name="Google Shape;170;p12"/>
          <p:cNvSpPr txBox="1">
            <a:spLocks noGrp="1"/>
          </p:cNvSpPr>
          <p:nvPr>
            <p:ph type="title" idx="3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title" idx="4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title" idx="5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73" name="Google Shape;173;p12"/>
          <p:cNvSpPr txBox="1">
            <a:spLocks noGrp="1"/>
          </p:cNvSpPr>
          <p:nvPr>
            <p:ph type="title" idx="6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4" name="Google Shape;174;p12"/>
          <p:cNvSpPr txBox="1">
            <a:spLocks noGrp="1"/>
          </p:cNvSpPr>
          <p:nvPr>
            <p:ph type="title" idx="7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5" name="Google Shape;175;p12"/>
          <p:cNvSpPr txBox="1">
            <a:spLocks noGrp="1"/>
          </p:cNvSpPr>
          <p:nvPr>
            <p:ph type="title" idx="8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title" idx="9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title" idx="13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title" idx="14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title" idx="15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title" idx="16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1" name="Google Shape;181;p12"/>
          <p:cNvSpPr txBox="1">
            <a:spLocks noGrp="1"/>
          </p:cNvSpPr>
          <p:nvPr>
            <p:ph type="title" idx="17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2" name="Google Shape;182;p12"/>
          <p:cNvSpPr txBox="1">
            <a:spLocks noGrp="1"/>
          </p:cNvSpPr>
          <p:nvPr>
            <p:ph type="title" idx="18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3" name="Google Shape;183;p12"/>
          <p:cNvSpPr txBox="1">
            <a:spLocks noGrp="1"/>
          </p:cNvSpPr>
          <p:nvPr>
            <p:ph type="title" idx="19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4" name="Google Shape;184;p12"/>
          <p:cNvSpPr txBox="1">
            <a:spLocks noGrp="1"/>
          </p:cNvSpPr>
          <p:nvPr>
            <p:ph type="title" idx="20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5" name="Google Shape;185;p12"/>
          <p:cNvSpPr txBox="1">
            <a:spLocks noGrp="1"/>
          </p:cNvSpPr>
          <p:nvPr>
            <p:ph type="title" idx="21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6" name="Google Shape;186;p12"/>
          <p:cNvSpPr txBox="1">
            <a:spLocks noGrp="1"/>
          </p:cNvSpPr>
          <p:nvPr>
            <p:ph type="title" idx="22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7" name="Google Shape;187;p12"/>
          <p:cNvSpPr txBox="1">
            <a:spLocks noGrp="1"/>
          </p:cNvSpPr>
          <p:nvPr>
            <p:ph type="title" idx="23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8" name="Google Shape;188;p12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9" name="Google Shape;189;p12"/>
          <p:cNvSpPr>
            <a:spLocks noGrp="1"/>
          </p:cNvSpPr>
          <p:nvPr>
            <p:ph type="pic" idx="24"/>
          </p:nvPr>
        </p:nvSpPr>
        <p:spPr>
          <a:xfrm>
            <a:off x="229025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0" name="Google Shape;190;p12"/>
          <p:cNvSpPr>
            <a:spLocks noGrp="1"/>
          </p:cNvSpPr>
          <p:nvPr>
            <p:ph type="pic" idx="25"/>
          </p:nvPr>
        </p:nvSpPr>
        <p:spPr>
          <a:xfrm>
            <a:off x="2005675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1" name="Google Shape;191;p12"/>
          <p:cNvSpPr>
            <a:spLocks noGrp="1"/>
          </p:cNvSpPr>
          <p:nvPr>
            <p:ph type="pic" idx="26"/>
          </p:nvPr>
        </p:nvSpPr>
        <p:spPr>
          <a:xfrm>
            <a:off x="3784263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2" name="Google Shape;192;p12"/>
          <p:cNvSpPr>
            <a:spLocks noGrp="1"/>
          </p:cNvSpPr>
          <p:nvPr>
            <p:ph type="pic" idx="27"/>
          </p:nvPr>
        </p:nvSpPr>
        <p:spPr>
          <a:xfrm>
            <a:off x="5560913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3" name="Google Shape;193;p12"/>
          <p:cNvSpPr>
            <a:spLocks noGrp="1"/>
          </p:cNvSpPr>
          <p:nvPr>
            <p:ph type="pic" idx="28"/>
          </p:nvPr>
        </p:nvSpPr>
        <p:spPr>
          <a:xfrm>
            <a:off x="7337563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>
            <a:spLocks noGrp="1"/>
          </p:cNvSpPr>
          <p:nvPr>
            <p:ph type="body" idx="29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5" name="Google Shape;195;p12"/>
          <p:cNvSpPr txBox="1">
            <a:spLocks noGrp="1"/>
          </p:cNvSpPr>
          <p:nvPr>
            <p:ph type="body" idx="30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6" name="Google Shape;196;p12"/>
          <p:cNvSpPr txBox="1">
            <a:spLocks noGrp="1"/>
          </p:cNvSpPr>
          <p:nvPr>
            <p:ph type="body" idx="31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7" name="Google Shape;197;p12"/>
          <p:cNvSpPr txBox="1">
            <a:spLocks noGrp="1"/>
          </p:cNvSpPr>
          <p:nvPr>
            <p:ph type="body" idx="32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8" name="Google Shape;198;p12"/>
          <p:cNvSpPr txBox="1">
            <a:spLocks noGrp="1"/>
          </p:cNvSpPr>
          <p:nvPr>
            <p:ph type="body" idx="33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9" name="Google Shape;199;p12"/>
          <p:cNvSpPr txBox="1">
            <a:spLocks noGrp="1"/>
          </p:cNvSpPr>
          <p:nvPr>
            <p:ph type="body" idx="34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12"/>
          <p:cNvSpPr txBox="1">
            <a:spLocks noGrp="1"/>
          </p:cNvSpPr>
          <p:nvPr>
            <p:ph type="body" idx="35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12"/>
          <p:cNvSpPr txBox="1">
            <a:spLocks noGrp="1"/>
          </p:cNvSpPr>
          <p:nvPr>
            <p:ph type="body" idx="36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2"/>
          <p:cNvSpPr txBox="1">
            <a:spLocks noGrp="1"/>
          </p:cNvSpPr>
          <p:nvPr>
            <p:ph type="body" idx="37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03" name="Google Shape;203;p12"/>
          <p:cNvSpPr txBox="1">
            <a:spLocks noGrp="1"/>
          </p:cNvSpPr>
          <p:nvPr>
            <p:ph type="body" idx="38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folder background">
  <p:cSld name="CUSTOM_1_1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title" idx="2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3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title" idx="4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5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3"/>
          <p:cNvSpPr txBox="1">
            <a:spLocks noGrp="1"/>
          </p:cNvSpPr>
          <p:nvPr>
            <p:ph type="subTitle" idx="1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subTitle" idx="6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3"/>
          <p:cNvSpPr txBox="1">
            <a:spLocks noGrp="1"/>
          </p:cNvSpPr>
          <p:nvPr>
            <p:ph type="subTitle" idx="7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subTitle" idx="8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3"/>
          <p:cNvSpPr txBox="1">
            <a:spLocks noGrp="1"/>
          </p:cNvSpPr>
          <p:nvPr>
            <p:ph type="subTitle" idx="9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3"/>
          <p:cNvSpPr txBox="1">
            <a:spLocks noGrp="1"/>
          </p:cNvSpPr>
          <p:nvPr>
            <p:ph type="subTitle" idx="13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subTitle" idx="14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3"/>
          <p:cNvSpPr txBox="1">
            <a:spLocks noGrp="1"/>
          </p:cNvSpPr>
          <p:nvPr>
            <p:ph type="subTitle" idx="15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subTitle" idx="16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body" idx="17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body" idx="18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body" idx="19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body" idx="20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13"/>
          <p:cNvSpPr txBox="1">
            <a:spLocks noGrp="1"/>
          </p:cNvSpPr>
          <p:nvPr>
            <p:ph type="body" idx="21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5" name="Google Shape;225;p13"/>
          <p:cNvSpPr txBox="1">
            <a:spLocks noGrp="1"/>
          </p:cNvSpPr>
          <p:nvPr>
            <p:ph type="body" idx="22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6" name="Google Shape;226;p13"/>
          <p:cNvSpPr txBox="1">
            <a:spLocks noGrp="1"/>
          </p:cNvSpPr>
          <p:nvPr>
            <p:ph type="body" idx="23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body" idx="24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body" idx="25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9" name="Google Shape;229;p13"/>
          <p:cNvSpPr txBox="1">
            <a:spLocks noGrp="1"/>
          </p:cNvSpPr>
          <p:nvPr>
            <p:ph type="body" idx="26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body" idx="27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body" idx="28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2" name="Google Shape;232;p13"/>
          <p:cNvSpPr txBox="1">
            <a:spLocks noGrp="1"/>
          </p:cNvSpPr>
          <p:nvPr>
            <p:ph type="body" idx="29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3" name="Google Shape;233;p13"/>
          <p:cNvSpPr txBox="1">
            <a:spLocks noGrp="1"/>
          </p:cNvSpPr>
          <p:nvPr>
            <p:ph type="body" idx="30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4" name="Google Shape;234;p13"/>
          <p:cNvSpPr txBox="1">
            <a:spLocks noGrp="1"/>
          </p:cNvSpPr>
          <p:nvPr>
            <p:ph type="body" idx="31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5" name="Google Shape;235;p13"/>
          <p:cNvSpPr txBox="1">
            <a:spLocks noGrp="1"/>
          </p:cNvSpPr>
          <p:nvPr>
            <p:ph type="body" idx="32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6" name="Google Shape;236;p13"/>
          <p:cNvSpPr txBox="1">
            <a:spLocks noGrp="1"/>
          </p:cNvSpPr>
          <p:nvPr>
            <p:ph type="body" idx="33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body" idx="34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body" idx="35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body" idx="36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folder background 2">
  <p:cSld name="CUSTOM_1_1_1_3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>
            <a:spLocks noGrp="1"/>
          </p:cNvSpPr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43" name="Google Shape;243;p14"/>
          <p:cNvSpPr txBox="1">
            <a:spLocks noGrp="1"/>
          </p:cNvSpPr>
          <p:nvPr>
            <p:ph type="title" idx="2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44" name="Google Shape;244;p14"/>
          <p:cNvSpPr txBox="1">
            <a:spLocks noGrp="1"/>
          </p:cNvSpPr>
          <p:nvPr>
            <p:ph type="title" idx="3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45" name="Google Shape;245;p14"/>
          <p:cNvSpPr txBox="1">
            <a:spLocks noGrp="1"/>
          </p:cNvSpPr>
          <p:nvPr>
            <p:ph type="title" idx="4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46" name="Google Shape;246;p14"/>
          <p:cNvSpPr txBox="1">
            <a:spLocks noGrp="1"/>
          </p:cNvSpPr>
          <p:nvPr>
            <p:ph type="body" idx="1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47" name="Google Shape;247;p14"/>
          <p:cNvSpPr txBox="1">
            <a:spLocks noGrp="1"/>
          </p:cNvSpPr>
          <p:nvPr>
            <p:ph type="body" idx="5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48" name="Google Shape;248;p14"/>
          <p:cNvSpPr txBox="1">
            <a:spLocks noGrp="1"/>
          </p:cNvSpPr>
          <p:nvPr>
            <p:ph type="body" idx="6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49" name="Google Shape;249;p14"/>
          <p:cNvSpPr txBox="1">
            <a:spLocks noGrp="1"/>
          </p:cNvSpPr>
          <p:nvPr>
            <p:ph type="body" idx="7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0" name="Google Shape;250;p14"/>
          <p:cNvSpPr txBox="1">
            <a:spLocks noGrp="1"/>
          </p:cNvSpPr>
          <p:nvPr>
            <p:ph type="body" idx="8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1" name="Google Shape;251;p14"/>
          <p:cNvSpPr txBox="1">
            <a:spLocks noGrp="1"/>
          </p:cNvSpPr>
          <p:nvPr>
            <p:ph type="body" idx="9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2" name="Google Shape;252;p14"/>
          <p:cNvSpPr txBox="1">
            <a:spLocks noGrp="1"/>
          </p:cNvSpPr>
          <p:nvPr>
            <p:ph type="body" idx="13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3" name="Google Shape;253;p14"/>
          <p:cNvSpPr txBox="1">
            <a:spLocks noGrp="1"/>
          </p:cNvSpPr>
          <p:nvPr>
            <p:ph type="body" idx="14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4" name="Google Shape;254;p14"/>
          <p:cNvSpPr txBox="1">
            <a:spLocks noGrp="1"/>
          </p:cNvSpPr>
          <p:nvPr>
            <p:ph type="body" idx="15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5" name="Google Shape;255;p14"/>
          <p:cNvSpPr txBox="1">
            <a:spLocks noGrp="1"/>
          </p:cNvSpPr>
          <p:nvPr>
            <p:ph type="body" idx="16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6" name="Google Shape;256;p14"/>
          <p:cNvSpPr txBox="1">
            <a:spLocks noGrp="1"/>
          </p:cNvSpPr>
          <p:nvPr>
            <p:ph type="body" idx="17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7" name="Google Shape;257;p14"/>
          <p:cNvSpPr txBox="1">
            <a:spLocks noGrp="1"/>
          </p:cNvSpPr>
          <p:nvPr>
            <p:ph type="body" idx="18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8" name="Google Shape;258;p14"/>
          <p:cNvSpPr txBox="1">
            <a:spLocks noGrp="1"/>
          </p:cNvSpPr>
          <p:nvPr>
            <p:ph type="body" idx="19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9" name="Google Shape;259;p14"/>
          <p:cNvSpPr txBox="1">
            <a:spLocks noGrp="1"/>
          </p:cNvSpPr>
          <p:nvPr>
            <p:ph type="body" idx="20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0" name="Google Shape;260;p14"/>
          <p:cNvSpPr txBox="1">
            <a:spLocks noGrp="1"/>
          </p:cNvSpPr>
          <p:nvPr>
            <p:ph type="body" idx="21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1" name="Google Shape;261;p14"/>
          <p:cNvSpPr txBox="1">
            <a:spLocks noGrp="1"/>
          </p:cNvSpPr>
          <p:nvPr>
            <p:ph type="body" idx="22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2" name="Google Shape;262;p14"/>
          <p:cNvSpPr txBox="1">
            <a:spLocks noGrp="1"/>
          </p:cNvSpPr>
          <p:nvPr>
            <p:ph type="body" idx="23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3" name="Google Shape;263;p14"/>
          <p:cNvSpPr txBox="1">
            <a:spLocks noGrp="1"/>
          </p:cNvSpPr>
          <p:nvPr>
            <p:ph type="body" idx="24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4" name="Google Shape;264;p14"/>
          <p:cNvSpPr txBox="1">
            <a:spLocks noGrp="1"/>
          </p:cNvSpPr>
          <p:nvPr>
            <p:ph type="body" idx="25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5" name="Google Shape;265;p14"/>
          <p:cNvSpPr txBox="1">
            <a:spLocks noGrp="1"/>
          </p:cNvSpPr>
          <p:nvPr>
            <p:ph type="body" idx="26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6" name="Google Shape;266;p14"/>
          <p:cNvSpPr txBox="1">
            <a:spLocks noGrp="1"/>
          </p:cNvSpPr>
          <p:nvPr>
            <p:ph type="subTitle" idx="27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4"/>
          <p:cNvSpPr txBox="1">
            <a:spLocks noGrp="1"/>
          </p:cNvSpPr>
          <p:nvPr>
            <p:ph type="subTitle" idx="28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68" name="Google Shape;268;p14"/>
          <p:cNvSpPr txBox="1">
            <a:spLocks noGrp="1"/>
          </p:cNvSpPr>
          <p:nvPr>
            <p:ph type="subTitle" idx="29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69" name="Google Shape;269;p14"/>
          <p:cNvSpPr txBox="1">
            <a:spLocks noGrp="1"/>
          </p:cNvSpPr>
          <p:nvPr>
            <p:ph type="subTitle" idx="30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70" name="Google Shape;270;p14"/>
          <p:cNvSpPr txBox="1">
            <a:spLocks noGrp="1"/>
          </p:cNvSpPr>
          <p:nvPr>
            <p:ph type="subTitle" idx="31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71" name="Google Shape;271;p14"/>
          <p:cNvSpPr txBox="1">
            <a:spLocks noGrp="1"/>
          </p:cNvSpPr>
          <p:nvPr>
            <p:ph type="subTitle" idx="32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72" name="Google Shape;272;p14"/>
          <p:cNvSpPr txBox="1">
            <a:spLocks noGrp="1"/>
          </p:cNvSpPr>
          <p:nvPr>
            <p:ph type="title" idx="33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4"/>
          <p:cNvSpPr txBox="1">
            <a:spLocks noGrp="1"/>
          </p:cNvSpPr>
          <p:nvPr>
            <p:ph type="subTitle" idx="34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4"/>
          <p:cNvSpPr txBox="1">
            <a:spLocks noGrp="1"/>
          </p:cNvSpPr>
          <p:nvPr>
            <p:ph type="subTitle" idx="35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4"/>
          <p:cNvSpPr txBox="1">
            <a:spLocks noGrp="1"/>
          </p:cNvSpPr>
          <p:nvPr>
            <p:ph type="subTitle" idx="36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and folder background">
  <p:cSld name="CUSTOM_1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15"/>
          <p:cNvSpPr txBox="1">
            <a:spLocks noGrp="1"/>
          </p:cNvSpPr>
          <p:nvPr>
            <p:ph type="subTitle" idx="2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5"/>
          <p:cNvSpPr txBox="1">
            <a:spLocks noGrp="1"/>
          </p:cNvSpPr>
          <p:nvPr>
            <p:ph type="subTitle" idx="3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15"/>
          <p:cNvSpPr txBox="1">
            <a:spLocks noGrp="1"/>
          </p:cNvSpPr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82" name="Google Shape;282;p15"/>
          <p:cNvSpPr txBox="1">
            <a:spLocks noGrp="1"/>
          </p:cNvSpPr>
          <p:nvPr>
            <p:ph type="subTitle" idx="4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spcFirstLastPara="1" wrap="square" lIns="180000" tIns="9000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5" name="Google Shape;295;p15"/>
          <p:cNvSpPr txBox="1">
            <a:spLocks noGrp="1"/>
          </p:cNvSpPr>
          <p:nvPr>
            <p:ph type="subTitle" idx="5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6" name="Google Shape;296;p15"/>
          <p:cNvSpPr txBox="1">
            <a:spLocks noGrp="1"/>
          </p:cNvSpPr>
          <p:nvPr>
            <p:ph type="subTitle" idx="6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7" name="Google Shape;297;p15"/>
          <p:cNvSpPr txBox="1">
            <a:spLocks noGrp="1"/>
          </p:cNvSpPr>
          <p:nvPr>
            <p:ph type="subTitle" idx="7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8" name="Google Shape;298;p15"/>
          <p:cNvSpPr txBox="1">
            <a:spLocks noGrp="1"/>
          </p:cNvSpPr>
          <p:nvPr>
            <p:ph type="subTitle" idx="8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9" name="Google Shape;299;p15"/>
          <p:cNvSpPr txBox="1">
            <a:spLocks noGrp="1"/>
          </p:cNvSpPr>
          <p:nvPr>
            <p:ph type="subTitle" idx="9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spcFirstLastPara="1" wrap="square" lIns="5400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0" name="Google Shape;300;p15"/>
          <p:cNvSpPr txBox="1">
            <a:spLocks noGrp="1"/>
          </p:cNvSpPr>
          <p:nvPr>
            <p:ph type="subTitle" idx="13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spcFirstLastPara="1" wrap="square" lIns="5400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1" name="Google Shape;301;p15"/>
          <p:cNvSpPr txBox="1">
            <a:spLocks noGrp="1"/>
          </p:cNvSpPr>
          <p:nvPr>
            <p:ph type="subTitle" idx="14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spcFirstLastPara="1" wrap="square" lIns="5400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2" name="Google Shape;302;p15"/>
          <p:cNvSpPr txBox="1">
            <a:spLocks noGrp="1"/>
          </p:cNvSpPr>
          <p:nvPr>
            <p:ph type="subTitle" idx="15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spcFirstLastPara="1" wrap="square" lIns="5400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3" name="Google Shape;303;p15"/>
          <p:cNvSpPr txBox="1">
            <a:spLocks noGrp="1"/>
          </p:cNvSpPr>
          <p:nvPr>
            <p:ph type="subTitle" idx="16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spcFirstLastPara="1" wrap="square" lIns="180000" tIns="9000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304" name="Google Shape;304;p15"/>
          <p:cNvSpPr txBox="1">
            <a:spLocks noGrp="1"/>
          </p:cNvSpPr>
          <p:nvPr>
            <p:ph type="subTitle" idx="17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5" name="Google Shape;305;p15"/>
          <p:cNvSpPr txBox="1">
            <a:spLocks noGrp="1"/>
          </p:cNvSpPr>
          <p:nvPr>
            <p:ph type="subTitle" idx="18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6" name="Google Shape;306;p15"/>
          <p:cNvSpPr txBox="1">
            <a:spLocks noGrp="1"/>
          </p:cNvSpPr>
          <p:nvPr>
            <p:ph type="subTitle" idx="19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7" name="Google Shape;307;p15"/>
          <p:cNvSpPr txBox="1">
            <a:spLocks noGrp="1"/>
          </p:cNvSpPr>
          <p:nvPr>
            <p:ph type="subTitle" idx="20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8" name="Google Shape;308;p15"/>
          <p:cNvSpPr txBox="1">
            <a:spLocks noGrp="1"/>
          </p:cNvSpPr>
          <p:nvPr>
            <p:ph type="subTitle" idx="21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9" name="Google Shape;309;p15"/>
          <p:cNvSpPr txBox="1">
            <a:spLocks noGrp="1"/>
          </p:cNvSpPr>
          <p:nvPr>
            <p:ph type="subTitle" idx="22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0" name="Google Shape;310;p15"/>
          <p:cNvSpPr txBox="1">
            <a:spLocks noGrp="1"/>
          </p:cNvSpPr>
          <p:nvPr>
            <p:ph type="subTitle" idx="23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1" name="Google Shape;311;p15"/>
          <p:cNvSpPr txBox="1">
            <a:spLocks noGrp="1"/>
          </p:cNvSpPr>
          <p:nvPr>
            <p:ph type="subTitle" idx="24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2" name="Google Shape;312;p15"/>
          <p:cNvSpPr txBox="1">
            <a:spLocks noGrp="1"/>
          </p:cNvSpPr>
          <p:nvPr>
            <p:ph type="subTitle" idx="25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3" name="Google Shape;313;p15"/>
          <p:cNvSpPr txBox="1">
            <a:spLocks noGrp="1"/>
          </p:cNvSpPr>
          <p:nvPr>
            <p:ph type="subTitle" idx="26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4" name="Google Shape;314;p15"/>
          <p:cNvSpPr txBox="1">
            <a:spLocks noGrp="1"/>
          </p:cNvSpPr>
          <p:nvPr>
            <p:ph type="title" idx="27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s 2">
  <p:cSld name="CUSTOM_7_1_1_1_1_1_1_1_1_1_1_1_1_1_1_1_1_9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>
            <a:spLocks noGrp="1"/>
          </p:cNvSpPr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17" name="Google Shape;317;p16"/>
          <p:cNvSpPr txBox="1">
            <a:spLocks noGrp="1"/>
          </p:cNvSpPr>
          <p:nvPr>
            <p:ph type="title" idx="2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18" name="Google Shape;318;p16"/>
          <p:cNvSpPr txBox="1">
            <a:spLocks noGrp="1"/>
          </p:cNvSpPr>
          <p:nvPr>
            <p:ph type="title" idx="3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19" name="Google Shape;319;p16"/>
          <p:cNvSpPr txBox="1">
            <a:spLocks noGrp="1"/>
          </p:cNvSpPr>
          <p:nvPr>
            <p:ph type="title" idx="4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0" name="Google Shape;320;p16"/>
          <p:cNvSpPr txBox="1">
            <a:spLocks noGrp="1"/>
          </p:cNvSpPr>
          <p:nvPr>
            <p:ph type="title" idx="5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1" name="Google Shape;321;p16"/>
          <p:cNvSpPr txBox="1">
            <a:spLocks noGrp="1"/>
          </p:cNvSpPr>
          <p:nvPr>
            <p:ph type="title" idx="6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2" name="Google Shape;322;p16"/>
          <p:cNvSpPr txBox="1">
            <a:spLocks noGrp="1"/>
          </p:cNvSpPr>
          <p:nvPr>
            <p:ph type="title" idx="7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3" name="Google Shape;323;p16"/>
          <p:cNvSpPr txBox="1">
            <a:spLocks noGrp="1"/>
          </p:cNvSpPr>
          <p:nvPr>
            <p:ph type="title" idx="8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4" name="Google Shape;324;p16"/>
          <p:cNvSpPr txBox="1">
            <a:spLocks noGrp="1"/>
          </p:cNvSpPr>
          <p:nvPr>
            <p:ph type="title" idx="9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5" name="Google Shape;325;p16"/>
          <p:cNvSpPr txBox="1">
            <a:spLocks noGrp="1"/>
          </p:cNvSpPr>
          <p:nvPr>
            <p:ph type="title" idx="13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6" name="Google Shape;326;p16"/>
          <p:cNvSpPr txBox="1">
            <a:spLocks noGrp="1"/>
          </p:cNvSpPr>
          <p:nvPr>
            <p:ph type="body" idx="1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27" name="Google Shape;327;p16"/>
          <p:cNvSpPr txBox="1">
            <a:spLocks noGrp="1"/>
          </p:cNvSpPr>
          <p:nvPr>
            <p:ph type="body" idx="14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28" name="Google Shape;328;p16"/>
          <p:cNvSpPr txBox="1">
            <a:spLocks noGrp="1"/>
          </p:cNvSpPr>
          <p:nvPr>
            <p:ph type="body" idx="15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29" name="Google Shape;329;p16"/>
          <p:cNvSpPr txBox="1">
            <a:spLocks noGrp="1"/>
          </p:cNvSpPr>
          <p:nvPr>
            <p:ph type="body" idx="16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0" name="Google Shape;330;p16"/>
          <p:cNvSpPr txBox="1">
            <a:spLocks noGrp="1"/>
          </p:cNvSpPr>
          <p:nvPr>
            <p:ph type="body" idx="17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1" name="Google Shape;331;p16"/>
          <p:cNvSpPr txBox="1">
            <a:spLocks noGrp="1"/>
          </p:cNvSpPr>
          <p:nvPr>
            <p:ph type="body" idx="18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2" name="Google Shape;332;p16"/>
          <p:cNvSpPr txBox="1">
            <a:spLocks noGrp="1"/>
          </p:cNvSpPr>
          <p:nvPr>
            <p:ph type="body" idx="19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3" name="Google Shape;333;p16"/>
          <p:cNvSpPr txBox="1">
            <a:spLocks noGrp="1"/>
          </p:cNvSpPr>
          <p:nvPr>
            <p:ph type="body" idx="20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4" name="Google Shape;334;p16"/>
          <p:cNvSpPr txBox="1">
            <a:spLocks noGrp="1"/>
          </p:cNvSpPr>
          <p:nvPr>
            <p:ph type="body" idx="21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5" name="Google Shape;335;p16"/>
          <p:cNvSpPr txBox="1">
            <a:spLocks noGrp="1"/>
          </p:cNvSpPr>
          <p:nvPr>
            <p:ph type="body" idx="22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6" name="Google Shape;336;p16"/>
          <p:cNvSpPr txBox="1">
            <a:spLocks noGrp="1"/>
          </p:cNvSpPr>
          <p:nvPr>
            <p:ph type="title" idx="23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37" name="Google Shape;337;p16"/>
          <p:cNvSpPr txBox="1">
            <a:spLocks noGrp="1"/>
          </p:cNvSpPr>
          <p:nvPr>
            <p:ph type="title" idx="24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38" name="Google Shape;338;p16"/>
          <p:cNvSpPr txBox="1">
            <a:spLocks noGrp="1"/>
          </p:cNvSpPr>
          <p:nvPr>
            <p:ph type="title" idx="25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39" name="Google Shape;339;p16"/>
          <p:cNvSpPr txBox="1">
            <a:spLocks noGrp="1"/>
          </p:cNvSpPr>
          <p:nvPr>
            <p:ph type="title" idx="26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40" name="Google Shape;340;p16"/>
          <p:cNvSpPr txBox="1">
            <a:spLocks noGrp="1"/>
          </p:cNvSpPr>
          <p:nvPr>
            <p:ph type="title" idx="27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41" name="Google Shape;341;p16"/>
          <p:cNvSpPr txBox="1">
            <a:spLocks noGrp="1"/>
          </p:cNvSpPr>
          <p:nvPr>
            <p:ph type="subTitle" idx="28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42" name="Google Shape;342;p16"/>
          <p:cNvSpPr txBox="1">
            <a:spLocks noGrp="1"/>
          </p:cNvSpPr>
          <p:nvPr>
            <p:ph type="body" idx="29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43" name="Google Shape;343;p16"/>
          <p:cNvSpPr txBox="1">
            <a:spLocks noGrp="1"/>
          </p:cNvSpPr>
          <p:nvPr>
            <p:ph type="body" idx="30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44" name="Google Shape;344;p16"/>
          <p:cNvSpPr txBox="1">
            <a:spLocks noGrp="1"/>
          </p:cNvSpPr>
          <p:nvPr>
            <p:ph type="body" idx="31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45" name="Google Shape;345;p16"/>
          <p:cNvSpPr txBox="1">
            <a:spLocks noGrp="1"/>
          </p:cNvSpPr>
          <p:nvPr>
            <p:ph type="body" idx="32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6"/>
          <p:cNvSpPr txBox="1">
            <a:spLocks noGrp="1"/>
          </p:cNvSpPr>
          <p:nvPr>
            <p:ph type="body" idx="33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1">
  <p:cSld name="CUSTOM_7_1_1_1_1_1_1_1_1_1_1_1_1_1_1_1_1_7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49" name="Google Shape;349;p17"/>
          <p:cNvSpPr txBox="1">
            <a:spLocks noGrp="1"/>
          </p:cNvSpPr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>
            <a:endParaRPr/>
          </a:p>
        </p:txBody>
      </p:sp>
      <p:cxnSp>
        <p:nvCxnSpPr>
          <p:cNvPr id="350" name="Google Shape;350;p1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1" name="Google Shape;351;p1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2" name="Google Shape;352;p1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3" name="Google Shape;353;p1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4" name="Google Shape;354;p1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5" name="Google Shape;355;p1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6" name="Google Shape;356;p1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7" name="Google Shape;357;p1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8" name="Google Shape;358;p1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9" name="Google Shape;359;p1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60" name="Google Shape;360;p1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1" name="Google Shape;361;p1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2" name="Google Shape;362;p17"/>
          <p:cNvSpPr txBox="1">
            <a:spLocks noGrp="1"/>
          </p:cNvSpPr>
          <p:nvPr>
            <p:ph type="subTitle" idx="2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3" name="Google Shape;363;p17"/>
          <p:cNvSpPr txBox="1">
            <a:spLocks noGrp="1"/>
          </p:cNvSpPr>
          <p:nvPr>
            <p:ph type="subTitle" idx="3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4" name="Google Shape;364;p17"/>
          <p:cNvSpPr txBox="1">
            <a:spLocks noGrp="1"/>
          </p:cNvSpPr>
          <p:nvPr>
            <p:ph type="subTitle" idx="4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5" name="Google Shape;365;p17"/>
          <p:cNvSpPr txBox="1">
            <a:spLocks noGrp="1"/>
          </p:cNvSpPr>
          <p:nvPr>
            <p:ph type="subTitle" idx="5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6" name="Google Shape;366;p17"/>
          <p:cNvSpPr txBox="1">
            <a:spLocks noGrp="1"/>
          </p:cNvSpPr>
          <p:nvPr>
            <p:ph type="subTitle" idx="6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7" name="Google Shape;367;p17"/>
          <p:cNvSpPr txBox="1">
            <a:spLocks noGrp="1"/>
          </p:cNvSpPr>
          <p:nvPr>
            <p:ph type="subTitle" idx="7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8" name="Google Shape;368;p17"/>
          <p:cNvSpPr txBox="1">
            <a:spLocks noGrp="1"/>
          </p:cNvSpPr>
          <p:nvPr>
            <p:ph type="subTitle" idx="8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9" name="Google Shape;369;p17"/>
          <p:cNvSpPr txBox="1">
            <a:spLocks noGrp="1"/>
          </p:cNvSpPr>
          <p:nvPr>
            <p:ph type="subTitle" idx="9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70" name="Google Shape;370;p17"/>
          <p:cNvSpPr txBox="1">
            <a:spLocks noGrp="1"/>
          </p:cNvSpPr>
          <p:nvPr>
            <p:ph type="subTitle" idx="13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71" name="Google Shape;371;p17"/>
          <p:cNvSpPr txBox="1">
            <a:spLocks noGrp="1"/>
          </p:cNvSpPr>
          <p:nvPr>
            <p:ph type="subTitle" idx="14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2">
  <p:cSld name="CUSTOM_7_1_1_1_1_1_1_1_1_1_1_1_1_1_1_1_1_8">
    <p:bg>
      <p:bgPr>
        <a:solidFill>
          <a:schemeClr val="dk2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>
            <a:spLocks noGrp="1"/>
          </p:cNvSpPr>
          <p:nvPr>
            <p:ph type="body" idx="1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4" name="Google Shape;374;p18"/>
          <p:cNvSpPr txBox="1">
            <a:spLocks noGrp="1"/>
          </p:cNvSpPr>
          <p:nvPr>
            <p:ph type="body" idx="2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5" name="Google Shape;375;p18"/>
          <p:cNvSpPr txBox="1">
            <a:spLocks noGrp="1"/>
          </p:cNvSpPr>
          <p:nvPr>
            <p:ph type="body" idx="3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6" name="Google Shape;376;p18"/>
          <p:cNvSpPr txBox="1">
            <a:spLocks noGrp="1"/>
          </p:cNvSpPr>
          <p:nvPr>
            <p:ph type="body" idx="4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18"/>
          <p:cNvSpPr txBox="1">
            <a:spLocks noGrp="1"/>
          </p:cNvSpPr>
          <p:nvPr>
            <p:ph type="body" idx="5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18"/>
          <p:cNvSpPr txBox="1">
            <a:spLocks noGrp="1"/>
          </p:cNvSpPr>
          <p:nvPr>
            <p:ph type="body" idx="6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9" name="Google Shape;379;p18"/>
          <p:cNvSpPr txBox="1">
            <a:spLocks noGrp="1"/>
          </p:cNvSpPr>
          <p:nvPr>
            <p:ph type="body" idx="7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0" name="Google Shape;380;p18"/>
          <p:cNvSpPr txBox="1">
            <a:spLocks noGrp="1"/>
          </p:cNvSpPr>
          <p:nvPr>
            <p:ph type="body" idx="8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1" name="Google Shape;381;p18"/>
          <p:cNvSpPr txBox="1">
            <a:spLocks noGrp="1"/>
          </p:cNvSpPr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>
            <a:endParaRPr/>
          </a:p>
        </p:txBody>
      </p:sp>
      <p:sp>
        <p:nvSpPr>
          <p:cNvPr id="382" name="Google Shape;382;p18"/>
          <p:cNvSpPr txBox="1">
            <a:spLocks noGrp="1"/>
          </p:cNvSpPr>
          <p:nvPr>
            <p:ph type="subTitle" idx="9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83" name="Google Shape;383;p18"/>
          <p:cNvSpPr txBox="1">
            <a:spLocks noGrp="1"/>
          </p:cNvSpPr>
          <p:nvPr>
            <p:ph type="title" idx="13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4" name="Google Shape;384;p18"/>
          <p:cNvSpPr txBox="1">
            <a:spLocks noGrp="1"/>
          </p:cNvSpPr>
          <p:nvPr>
            <p:ph type="title" idx="14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5" name="Google Shape;385;p18"/>
          <p:cNvSpPr txBox="1">
            <a:spLocks noGrp="1"/>
          </p:cNvSpPr>
          <p:nvPr>
            <p:ph type="title" idx="15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6" name="Google Shape;386;p18"/>
          <p:cNvSpPr txBox="1">
            <a:spLocks noGrp="1"/>
          </p:cNvSpPr>
          <p:nvPr>
            <p:ph type="title" idx="16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7" name="Google Shape;387;p18"/>
          <p:cNvSpPr txBox="1">
            <a:spLocks noGrp="1"/>
          </p:cNvSpPr>
          <p:nvPr>
            <p:ph type="title" idx="17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8" name="Google Shape;388;p18"/>
          <p:cNvSpPr txBox="1">
            <a:spLocks noGrp="1"/>
          </p:cNvSpPr>
          <p:nvPr>
            <p:ph type="title" idx="18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9" name="Google Shape;389;p18"/>
          <p:cNvSpPr txBox="1">
            <a:spLocks noGrp="1"/>
          </p:cNvSpPr>
          <p:nvPr>
            <p:ph type="title" idx="19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90" name="Google Shape;390;p18"/>
          <p:cNvSpPr txBox="1">
            <a:spLocks noGrp="1"/>
          </p:cNvSpPr>
          <p:nvPr>
            <p:ph type="title" idx="20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3">
  <p:cSld name="CUSTOM_7_1_1_1_1_1_1_1_1_1_1_1_1_1_1_1_1_7_1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93" name="Google Shape;393;p19"/>
          <p:cNvSpPr txBox="1">
            <a:spLocks noGrp="1"/>
          </p:cNvSpPr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>
            <a:endParaRPr/>
          </a:p>
        </p:txBody>
      </p:sp>
      <p:sp>
        <p:nvSpPr>
          <p:cNvPr id="394" name="Google Shape;394;p19"/>
          <p:cNvSpPr txBox="1">
            <a:spLocks noGrp="1"/>
          </p:cNvSpPr>
          <p:nvPr>
            <p:ph type="subTitle" idx="2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19"/>
          <p:cNvSpPr txBox="1">
            <a:spLocks noGrp="1"/>
          </p:cNvSpPr>
          <p:nvPr>
            <p:ph type="subTitle" idx="3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spcFirstLastPara="1" wrap="square" lIns="5400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19"/>
          <p:cNvSpPr txBox="1">
            <a:spLocks noGrp="1"/>
          </p:cNvSpPr>
          <p:nvPr>
            <p:ph type="subTitle" idx="4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9"/>
          <p:cNvSpPr txBox="1">
            <a:spLocks noGrp="1"/>
          </p:cNvSpPr>
          <p:nvPr>
            <p:ph type="subTitle" idx="5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spcFirstLastPara="1" wrap="square" lIns="5400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9"/>
          <p:cNvSpPr txBox="1">
            <a:spLocks noGrp="1"/>
          </p:cNvSpPr>
          <p:nvPr>
            <p:ph type="subTitle" idx="6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9"/>
          <p:cNvSpPr txBox="1">
            <a:spLocks noGrp="1"/>
          </p:cNvSpPr>
          <p:nvPr>
            <p:ph type="subTitle" idx="7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spcFirstLastPara="1" wrap="square" lIns="5400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9"/>
          <p:cNvSpPr txBox="1">
            <a:spLocks noGrp="1"/>
          </p:cNvSpPr>
          <p:nvPr>
            <p:ph type="body" idx="8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1" name="Google Shape;401;p19"/>
          <p:cNvSpPr txBox="1">
            <a:spLocks noGrp="1"/>
          </p:cNvSpPr>
          <p:nvPr>
            <p:ph type="body" idx="9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2" name="Google Shape;402;p19"/>
          <p:cNvSpPr txBox="1">
            <a:spLocks noGrp="1"/>
          </p:cNvSpPr>
          <p:nvPr>
            <p:ph type="body" idx="13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4">
  <p:cSld name="CUSTOM_7_1_1_1_1_1_1_1_1_1_1_1_1_1_1_1_1_7_2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05" name="Google Shape;405;p20"/>
          <p:cNvSpPr txBox="1">
            <a:spLocks noGrp="1"/>
          </p:cNvSpPr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>
            <a:endParaRPr/>
          </a:p>
        </p:txBody>
      </p:sp>
      <p:sp>
        <p:nvSpPr>
          <p:cNvPr id="406" name="Google Shape;406;p20"/>
          <p:cNvSpPr txBox="1">
            <a:spLocks noGrp="1"/>
          </p:cNvSpPr>
          <p:nvPr>
            <p:ph type="subTitle" idx="2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7" name="Google Shape;407;p20"/>
          <p:cNvSpPr txBox="1">
            <a:spLocks noGrp="1"/>
          </p:cNvSpPr>
          <p:nvPr>
            <p:ph type="subTitle" idx="3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8" name="Google Shape;408;p20"/>
          <p:cNvSpPr txBox="1">
            <a:spLocks noGrp="1"/>
          </p:cNvSpPr>
          <p:nvPr>
            <p:ph type="subTitle" idx="4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9" name="Google Shape;409;p20"/>
          <p:cNvSpPr txBox="1">
            <a:spLocks noGrp="1"/>
          </p:cNvSpPr>
          <p:nvPr>
            <p:ph type="subTitle" idx="5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0" name="Google Shape;410;p20"/>
          <p:cNvSpPr txBox="1">
            <a:spLocks noGrp="1"/>
          </p:cNvSpPr>
          <p:nvPr>
            <p:ph type="subTitle" idx="6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1" name="Google Shape;411;p20"/>
          <p:cNvSpPr txBox="1">
            <a:spLocks noGrp="1"/>
          </p:cNvSpPr>
          <p:nvPr>
            <p:ph type="subTitle" idx="7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2" name="Google Shape;412;p20"/>
          <p:cNvSpPr txBox="1">
            <a:spLocks noGrp="1"/>
          </p:cNvSpPr>
          <p:nvPr>
            <p:ph type="subTitle" idx="8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subTitle" idx="9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20"/>
          <p:cNvSpPr txBox="1">
            <a:spLocks noGrp="1"/>
          </p:cNvSpPr>
          <p:nvPr>
            <p:ph type="subTitle" idx="13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20"/>
          <p:cNvSpPr txBox="1">
            <a:spLocks noGrp="1"/>
          </p:cNvSpPr>
          <p:nvPr>
            <p:ph type="subTitle" idx="14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20"/>
          <p:cNvSpPr txBox="1">
            <a:spLocks noGrp="1"/>
          </p:cNvSpPr>
          <p:nvPr>
            <p:ph type="subTitle" idx="15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20"/>
          <p:cNvSpPr txBox="1">
            <a:spLocks noGrp="1"/>
          </p:cNvSpPr>
          <p:nvPr>
            <p:ph type="subTitle" idx="16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0"/>
          <p:cNvSpPr txBox="1">
            <a:spLocks noGrp="1"/>
          </p:cNvSpPr>
          <p:nvPr>
            <p:ph type="body" idx="17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19" name="Google Shape;419;p20"/>
          <p:cNvSpPr txBox="1">
            <a:spLocks noGrp="1"/>
          </p:cNvSpPr>
          <p:nvPr>
            <p:ph type="body" idx="18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0" name="Google Shape;420;p20"/>
          <p:cNvSpPr txBox="1">
            <a:spLocks noGrp="1"/>
          </p:cNvSpPr>
          <p:nvPr>
            <p:ph type="body" idx="19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1" name="Google Shape;421;p20"/>
          <p:cNvSpPr txBox="1">
            <a:spLocks noGrp="1"/>
          </p:cNvSpPr>
          <p:nvPr>
            <p:ph type="body" idx="20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2" name="Google Shape;422;p20"/>
          <p:cNvSpPr txBox="1">
            <a:spLocks noGrp="1"/>
          </p:cNvSpPr>
          <p:nvPr>
            <p:ph type="body" idx="21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3" name="Google Shape;423;p20"/>
          <p:cNvSpPr txBox="1">
            <a:spLocks noGrp="1"/>
          </p:cNvSpPr>
          <p:nvPr>
            <p:ph type="body" idx="22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folder background 2">
  <p:cSld name="CUSTOM_1_1_1_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26" name="Google Shape;426;p21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21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21"/>
          <p:cNvSpPr txBox="1">
            <a:spLocks noGrp="1"/>
          </p:cNvSpPr>
          <p:nvPr>
            <p:ph type="subTitle" idx="3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21"/>
          <p:cNvSpPr txBox="1">
            <a:spLocks noGrp="1"/>
          </p:cNvSpPr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30" name="Google Shape;430;p21"/>
          <p:cNvSpPr txBox="1">
            <a:spLocks noGrp="1"/>
          </p:cNvSpPr>
          <p:nvPr>
            <p:ph type="subTitle" idx="4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21"/>
          <p:cNvSpPr txBox="1">
            <a:spLocks noGrp="1"/>
          </p:cNvSpPr>
          <p:nvPr>
            <p:ph type="subTitle" idx="5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21"/>
          <p:cNvSpPr txBox="1">
            <a:spLocks noGrp="1"/>
          </p:cNvSpPr>
          <p:nvPr>
            <p:ph type="subTitle" idx="6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21"/>
          <p:cNvSpPr txBox="1">
            <a:spLocks noGrp="1"/>
          </p:cNvSpPr>
          <p:nvPr>
            <p:ph type="subTitle" idx="7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21"/>
          <p:cNvSpPr txBox="1">
            <a:spLocks noGrp="1"/>
          </p:cNvSpPr>
          <p:nvPr>
            <p:ph type="subTitle" idx="8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21"/>
          <p:cNvSpPr txBox="1">
            <a:spLocks noGrp="1"/>
          </p:cNvSpPr>
          <p:nvPr>
            <p:ph type="subTitle" idx="9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3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14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21"/>
          <p:cNvSpPr txBox="1">
            <a:spLocks noGrp="1"/>
          </p:cNvSpPr>
          <p:nvPr>
            <p:ph type="subTitle" idx="15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21"/>
          <p:cNvSpPr txBox="1">
            <a:spLocks noGrp="1"/>
          </p:cNvSpPr>
          <p:nvPr>
            <p:ph type="subTitle" idx="16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21"/>
          <p:cNvSpPr txBox="1">
            <a:spLocks noGrp="1"/>
          </p:cNvSpPr>
          <p:nvPr>
            <p:ph type="title" idx="17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21"/>
          <p:cNvSpPr txBox="1">
            <a:spLocks noGrp="1"/>
          </p:cNvSpPr>
          <p:nvPr>
            <p:ph type="body" idx="18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2" name="Google Shape;442;p21"/>
          <p:cNvSpPr txBox="1">
            <a:spLocks noGrp="1"/>
          </p:cNvSpPr>
          <p:nvPr>
            <p:ph type="body" idx="19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3" name="Google Shape;443;p21"/>
          <p:cNvSpPr txBox="1">
            <a:spLocks noGrp="1"/>
          </p:cNvSpPr>
          <p:nvPr>
            <p:ph type="body" idx="20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4" name="Google Shape;444;p21"/>
          <p:cNvSpPr txBox="1">
            <a:spLocks noGrp="1"/>
          </p:cNvSpPr>
          <p:nvPr>
            <p:ph type="body" idx="21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5" name="Google Shape;445;p21"/>
          <p:cNvSpPr txBox="1">
            <a:spLocks noGrp="1"/>
          </p:cNvSpPr>
          <p:nvPr>
            <p:ph type="body" idx="22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folder background 3">
  <p:cSld name="CUSTOM_1_1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0" name="Google Shape;450;p22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22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grpSp>
        <p:nvGrpSpPr>
          <p:cNvPr id="452" name="Google Shape;452;p2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53" name="Google Shape;453;p2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5278763" y="131788"/>
              <a:ext cx="2245995" cy="360013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55" name="Google Shape;455;p22"/>
          <p:cNvSpPr txBox="1">
            <a:spLocks noGrp="1"/>
          </p:cNvSpPr>
          <p:nvPr>
            <p:ph type="subTitle" idx="3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22"/>
          <p:cNvSpPr txBox="1">
            <a:spLocks noGrp="1"/>
          </p:cNvSpPr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57" name="Google Shape;457;p22"/>
          <p:cNvSpPr txBox="1">
            <a:spLocks noGrp="1"/>
          </p:cNvSpPr>
          <p:nvPr>
            <p:ph type="subTitle" idx="4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22"/>
          <p:cNvSpPr txBox="1">
            <a:spLocks noGrp="1"/>
          </p:cNvSpPr>
          <p:nvPr>
            <p:ph type="subTitle" idx="5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22"/>
          <p:cNvSpPr txBox="1">
            <a:spLocks noGrp="1"/>
          </p:cNvSpPr>
          <p:nvPr>
            <p:ph type="subTitle" idx="6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22"/>
          <p:cNvSpPr txBox="1">
            <a:spLocks noGrp="1"/>
          </p:cNvSpPr>
          <p:nvPr>
            <p:ph type="subTitle" idx="7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22"/>
          <p:cNvSpPr txBox="1">
            <a:spLocks noGrp="1"/>
          </p:cNvSpPr>
          <p:nvPr>
            <p:ph type="subTitle" idx="8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22"/>
          <p:cNvSpPr txBox="1">
            <a:spLocks noGrp="1"/>
          </p:cNvSpPr>
          <p:nvPr>
            <p:ph type="title" idx="9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22"/>
          <p:cNvSpPr txBox="1">
            <a:spLocks noGrp="1"/>
          </p:cNvSpPr>
          <p:nvPr>
            <p:ph type="subTitle" idx="13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22"/>
          <p:cNvSpPr txBox="1">
            <a:spLocks noGrp="1"/>
          </p:cNvSpPr>
          <p:nvPr>
            <p:ph type="subTitle" idx="14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22"/>
          <p:cNvSpPr txBox="1">
            <a:spLocks noGrp="1"/>
          </p:cNvSpPr>
          <p:nvPr>
            <p:ph type="subTitle" idx="15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22"/>
          <p:cNvSpPr txBox="1">
            <a:spLocks noGrp="1"/>
          </p:cNvSpPr>
          <p:nvPr>
            <p:ph type="subTitle" idx="16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22"/>
          <p:cNvSpPr txBox="1">
            <a:spLocks noGrp="1"/>
          </p:cNvSpPr>
          <p:nvPr>
            <p:ph type="subTitle" idx="17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2"/>
          <p:cNvSpPr txBox="1">
            <a:spLocks noGrp="1"/>
          </p:cNvSpPr>
          <p:nvPr>
            <p:ph type="subTitle" idx="18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er">
  <p:cSld name="CUSTOM_3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23"/>
          <p:cNvSpPr txBox="1">
            <a:spLocks noGrp="1"/>
          </p:cNvSpPr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>
            <a:endParaRPr/>
          </a:p>
        </p:txBody>
      </p:sp>
      <p:sp>
        <p:nvSpPr>
          <p:cNvPr id="472" name="Google Shape;472;p23"/>
          <p:cNvSpPr txBox="1">
            <a:spLocks noGrp="1"/>
          </p:cNvSpPr>
          <p:nvPr>
            <p:ph type="body" idx="1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473" name="Google Shape;473;p23"/>
          <p:cNvSpPr txBox="1">
            <a:spLocks noGrp="1"/>
          </p:cNvSpPr>
          <p:nvPr>
            <p:ph type="subTitle" idx="2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4" name="Google Shape;474;p23"/>
          <p:cNvSpPr txBox="1">
            <a:spLocks noGrp="1"/>
          </p:cNvSpPr>
          <p:nvPr>
            <p:ph type="subTitle" idx="3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er 1">
  <p:cSld name="CUSTOM_3_1">
    <p:bg>
      <p:bgPr>
        <a:solidFill>
          <a:schemeClr val="dk2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7" name="Google Shape;477;p24"/>
          <p:cNvSpPr txBox="1">
            <a:spLocks noGrp="1"/>
          </p:cNvSpPr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>
            <a:endParaRPr/>
          </a:p>
        </p:txBody>
      </p:sp>
      <p:sp>
        <p:nvSpPr>
          <p:cNvPr id="478" name="Google Shape;478;p24"/>
          <p:cNvSpPr txBox="1">
            <a:spLocks noGrp="1"/>
          </p:cNvSpPr>
          <p:nvPr>
            <p:ph type="body" idx="1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479" name="Google Shape;479;p24"/>
          <p:cNvSpPr txBox="1">
            <a:spLocks noGrp="1"/>
          </p:cNvSpPr>
          <p:nvPr>
            <p:ph type="subTitle" idx="2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24"/>
          <p:cNvSpPr txBox="1">
            <a:spLocks noGrp="1"/>
          </p:cNvSpPr>
          <p:nvPr>
            <p:ph type="subTitle" idx="3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s 1 1">
  <p:cSld name="CUSTOM_7_1_1_1_1_1_1_1_1_1_1_1_1_1_1_1_1_6_1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>
            <a:spLocks noGrp="1"/>
          </p:cNvSpPr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3" name="Google Shape;483;p25"/>
          <p:cNvSpPr txBox="1">
            <a:spLocks noGrp="1"/>
          </p:cNvSpPr>
          <p:nvPr>
            <p:ph type="title" idx="2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4" name="Google Shape;484;p25"/>
          <p:cNvSpPr txBox="1">
            <a:spLocks noGrp="1"/>
          </p:cNvSpPr>
          <p:nvPr>
            <p:ph type="title" idx="3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5" name="Google Shape;485;p25"/>
          <p:cNvSpPr txBox="1">
            <a:spLocks noGrp="1"/>
          </p:cNvSpPr>
          <p:nvPr>
            <p:ph type="title" idx="4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6" name="Google Shape;486;p25"/>
          <p:cNvSpPr txBox="1">
            <a:spLocks noGrp="1"/>
          </p:cNvSpPr>
          <p:nvPr>
            <p:ph type="title" idx="5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7" name="Google Shape;487;p25"/>
          <p:cNvSpPr txBox="1">
            <a:spLocks noGrp="1"/>
          </p:cNvSpPr>
          <p:nvPr>
            <p:ph type="title" idx="6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8" name="Google Shape;488;p25"/>
          <p:cNvSpPr txBox="1">
            <a:spLocks noGrp="1"/>
          </p:cNvSpPr>
          <p:nvPr>
            <p:ph type="title" idx="7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9" name="Google Shape;489;p25"/>
          <p:cNvSpPr txBox="1">
            <a:spLocks noGrp="1"/>
          </p:cNvSpPr>
          <p:nvPr>
            <p:ph type="title" idx="8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90" name="Google Shape;490;p25"/>
          <p:cNvSpPr txBox="1">
            <a:spLocks noGrp="1"/>
          </p:cNvSpPr>
          <p:nvPr>
            <p:ph type="title" idx="9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91" name="Google Shape;491;p25"/>
          <p:cNvSpPr txBox="1">
            <a:spLocks noGrp="1"/>
          </p:cNvSpPr>
          <p:nvPr>
            <p:ph type="title" idx="13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92" name="Google Shape;492;p25"/>
          <p:cNvSpPr txBox="1">
            <a:spLocks noGrp="1"/>
          </p:cNvSpPr>
          <p:nvPr>
            <p:ph type="title" idx="14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3" name="Google Shape;493;p25"/>
          <p:cNvSpPr txBox="1">
            <a:spLocks noGrp="1"/>
          </p:cNvSpPr>
          <p:nvPr>
            <p:ph type="title" idx="15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4" name="Google Shape;494;p25"/>
          <p:cNvSpPr txBox="1">
            <a:spLocks noGrp="1"/>
          </p:cNvSpPr>
          <p:nvPr>
            <p:ph type="title" idx="16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5" name="Google Shape;495;p25"/>
          <p:cNvSpPr txBox="1">
            <a:spLocks noGrp="1"/>
          </p:cNvSpPr>
          <p:nvPr>
            <p:ph type="title" idx="17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6" name="Google Shape;496;p25"/>
          <p:cNvSpPr txBox="1">
            <a:spLocks noGrp="1"/>
          </p:cNvSpPr>
          <p:nvPr>
            <p:ph type="title" idx="18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7" name="Google Shape;497;p25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98" name="Google Shape;498;p25"/>
          <p:cNvSpPr txBox="1">
            <a:spLocks noGrp="1"/>
          </p:cNvSpPr>
          <p:nvPr>
            <p:ph type="body" idx="19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99" name="Google Shape;499;p25"/>
          <p:cNvSpPr txBox="1">
            <a:spLocks noGrp="1"/>
          </p:cNvSpPr>
          <p:nvPr>
            <p:ph type="body" idx="20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0" name="Google Shape;500;p25"/>
          <p:cNvSpPr txBox="1">
            <a:spLocks noGrp="1"/>
          </p:cNvSpPr>
          <p:nvPr>
            <p:ph type="body" idx="21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1" name="Google Shape;501;p25"/>
          <p:cNvSpPr txBox="1">
            <a:spLocks noGrp="1"/>
          </p:cNvSpPr>
          <p:nvPr>
            <p:ph type="body" idx="22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2" name="Google Shape;502;p25"/>
          <p:cNvSpPr txBox="1">
            <a:spLocks noGrp="1"/>
          </p:cNvSpPr>
          <p:nvPr>
            <p:ph type="body" idx="23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3" name="Google Shape;503;p25"/>
          <p:cNvSpPr txBox="1">
            <a:spLocks noGrp="1"/>
          </p:cNvSpPr>
          <p:nvPr>
            <p:ph type="body" idx="24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4" name="Google Shape;504;p25"/>
          <p:cNvSpPr txBox="1">
            <a:spLocks noGrp="1"/>
          </p:cNvSpPr>
          <p:nvPr>
            <p:ph type="body" idx="25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5" name="Google Shape;505;p25"/>
          <p:cNvSpPr txBox="1">
            <a:spLocks noGrp="1"/>
          </p:cNvSpPr>
          <p:nvPr>
            <p:ph type="body" idx="26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6" name="Google Shape;506;p25"/>
          <p:cNvSpPr txBox="1">
            <a:spLocks noGrp="1"/>
          </p:cNvSpPr>
          <p:nvPr>
            <p:ph type="body" idx="27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7" name="Google Shape;507;p25"/>
          <p:cNvSpPr txBox="1">
            <a:spLocks noGrp="1"/>
          </p:cNvSpPr>
          <p:nvPr>
            <p:ph type="body" idx="28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8" name="Google Shape;508;p25"/>
          <p:cNvSpPr txBox="1">
            <a:spLocks noGrp="1"/>
          </p:cNvSpPr>
          <p:nvPr>
            <p:ph type="body" idx="29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9" name="Google Shape;509;p25"/>
          <p:cNvSpPr txBox="1">
            <a:spLocks noGrp="1"/>
          </p:cNvSpPr>
          <p:nvPr>
            <p:ph type="body" idx="30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10" name="Google Shape;510;p25"/>
          <p:cNvSpPr txBox="1">
            <a:spLocks noGrp="1"/>
          </p:cNvSpPr>
          <p:nvPr>
            <p:ph type="body" idx="31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11" name="Google Shape;511;p25"/>
          <p:cNvSpPr txBox="1">
            <a:spLocks noGrp="1"/>
          </p:cNvSpPr>
          <p:nvPr>
            <p:ph type="body" idx="32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12" name="Google Shape;512;p25"/>
          <p:cNvSpPr txBox="1">
            <a:spLocks noGrp="1"/>
          </p:cNvSpPr>
          <p:nvPr>
            <p:ph type="body" idx="33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15" name="Google Shape;515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4" name="Google Shape;524;p2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29" name="Google Shape;529;p3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0" name="Google Shape;540;p3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37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5" name="Google Shape;545;p37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6" name="Google Shape;546;p37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7" name="Google Shape;547;p37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8" name="Google Shape;548;p37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9" name="Google Shape;549;p37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53" name="Google Shape;553;p38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56" name="Google Shape;556;p39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57" name="Google Shape;557;p39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58" name="Google Shape;558;p39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9" name="Google Shape;559;p39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62" name="Google Shape;562;p40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63" name="Google Shape;563;p4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64" name="Google Shape;564;p40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5" name="Google Shape;565;p40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6" name="Google Shape;566;p40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7" name="Google Shape;567;p40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70" name="Google Shape;570;p41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71" name="Google Shape;571;p41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72" name="Google Shape;572;p41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73" name="Google Shape;573;p41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74" name="Google Shape;574;p41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5" name="Google Shape;575;p41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6" name="Google Shape;576;p41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7" name="Google Shape;577;p41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42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3" name="Google Shape;583;p43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6" name="Google Shape;586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43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88" name="Google Shape;588;p43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1" name="Google Shape;591;p44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4" name="Google Shape;594;p44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6" name="Google Shape;596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44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98" name="Google Shape;598;p44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99" name="Google Shape;599;p44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46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 txBox="1">
            <a:spLocks noGrp="1"/>
          </p:cNvSpPr>
          <p:nvPr>
            <p:ph type="title"/>
          </p:nvPr>
        </p:nvSpPr>
        <p:spPr>
          <a:xfrm>
            <a:off x="613800" y="1133050"/>
            <a:ext cx="7916400" cy="199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2500">
                <a:solidFill>
                  <a:srgbClr val="434343"/>
                </a:solidFill>
              </a:rPr>
              <a:t>Minimizing Contractor Reliance &amp; Credit Purchases to Strengthen Direct Customer Relationship &amp; Improve Cash Flow in a </a:t>
            </a:r>
            <a:endParaRPr sz="2500">
              <a:solidFill>
                <a:srgbClr val="434343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2500">
                <a:solidFill>
                  <a:srgbClr val="434343"/>
                </a:solidFill>
              </a:rPr>
              <a:t>Plywood &amp; Interior Materials Business</a:t>
            </a:r>
            <a:endParaRPr sz="25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endParaRPr sz="160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4600"/>
              <a:t>Project Presentation</a:t>
            </a:r>
            <a:endParaRPr sz="4600"/>
          </a:p>
        </p:txBody>
      </p:sp>
      <p:sp>
        <p:nvSpPr>
          <p:cNvPr id="618" name="Google Shape;618;p47"/>
          <p:cNvSpPr txBox="1"/>
          <p:nvPr/>
        </p:nvSpPr>
        <p:spPr>
          <a:xfrm>
            <a:off x="593175" y="3131725"/>
            <a:ext cx="74658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Neuton Light"/>
                <a:ea typeface="Neuton Light"/>
                <a:cs typeface="Neuton Light"/>
                <a:sym typeface="Neuton Light"/>
              </a:rPr>
              <a:t>Vaibhav Satish  |  21f3002068</a:t>
            </a:r>
            <a:endParaRPr sz="1600">
              <a:solidFill>
                <a:srgbClr val="434343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  <p:sp>
        <p:nvSpPr>
          <p:cNvPr id="619" name="Google Shape;619;p47"/>
          <p:cNvSpPr txBox="1"/>
          <p:nvPr/>
        </p:nvSpPr>
        <p:spPr>
          <a:xfrm>
            <a:off x="660150" y="623050"/>
            <a:ext cx="7823700" cy="5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85200C"/>
                </a:solidFill>
                <a:latin typeface="Neuton Light"/>
                <a:ea typeface="Neuton Light"/>
                <a:cs typeface="Neuton Light"/>
                <a:sym typeface="Neuton Light"/>
              </a:rPr>
              <a:t>Business Database Management  |  Capstone Project</a:t>
            </a:r>
            <a:endParaRPr sz="1500">
              <a:solidFill>
                <a:srgbClr val="85200C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  <p:cxnSp>
        <p:nvCxnSpPr>
          <p:cNvPr id="620" name="Google Shape;620;p47"/>
          <p:cNvCxnSpPr/>
          <p:nvPr/>
        </p:nvCxnSpPr>
        <p:spPr>
          <a:xfrm>
            <a:off x="660150" y="1024525"/>
            <a:ext cx="7823700" cy="2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1" name="Google Shape;62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175" y="3821300"/>
            <a:ext cx="1064504" cy="10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7"/>
          <p:cNvSpPr txBox="1"/>
          <p:nvPr/>
        </p:nvSpPr>
        <p:spPr>
          <a:xfrm>
            <a:off x="1657675" y="4050700"/>
            <a:ext cx="34011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rPr>
              <a:t>IITM Online BS Degree Program, Indian Institute of Technology, Madras, Chennai, Tamil Nadu, India</a:t>
            </a:r>
            <a:endParaRPr sz="1200">
              <a:solidFill>
                <a:schemeClr val="dk1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  <p:sp>
        <p:nvSpPr>
          <p:cNvPr id="623" name="Google Shape;623;p47"/>
          <p:cNvSpPr txBox="1"/>
          <p:nvPr/>
        </p:nvSpPr>
        <p:spPr>
          <a:xfrm>
            <a:off x="7465800" y="4169757"/>
            <a:ext cx="1064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rPr>
              <a:t>22nd Nov, 2025</a:t>
            </a:r>
            <a:endParaRPr sz="1200" dirty="0">
              <a:solidFill>
                <a:schemeClr val="dk1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  <p:sp>
        <p:nvSpPr>
          <p:cNvPr id="624" name="Google Shape;624;p47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5" name="Google Shape;625;p47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6" name="Google Shape;626;p47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7" name="Google Shape;627;p47"/>
          <p:cNvSpPr txBox="1"/>
          <p:nvPr/>
        </p:nvSpPr>
        <p:spPr>
          <a:xfrm>
            <a:off x="535225" y="127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Introduction</a:t>
            </a:r>
            <a:endParaRPr>
              <a:solidFill>
                <a:schemeClr val="dk1"/>
              </a:solidFill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28" name="Google Shape;628;p47"/>
          <p:cNvSpPr txBox="1"/>
          <p:nvPr/>
        </p:nvSpPr>
        <p:spPr>
          <a:xfrm>
            <a:off x="2003538" y="1193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Neuton Light"/>
                <a:ea typeface="Neuton Light"/>
                <a:cs typeface="Neuton Light"/>
                <a:sym typeface="Neuton Light"/>
              </a:rPr>
              <a:t>Background</a:t>
            </a:r>
            <a:endParaRPr sz="1200">
              <a:solidFill>
                <a:srgbClr val="434343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  <p:sp>
        <p:nvSpPr>
          <p:cNvPr id="629" name="Google Shape;629;p47"/>
          <p:cNvSpPr txBox="1"/>
          <p:nvPr/>
        </p:nvSpPr>
        <p:spPr>
          <a:xfrm>
            <a:off x="3448850" y="1193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latin typeface="Neuton Light"/>
                <a:ea typeface="Neuton Light"/>
                <a:cs typeface="Neuton Light"/>
                <a:sym typeface="Neuton Light"/>
              </a:rPr>
              <a:t>Problem Statement</a:t>
            </a:r>
            <a:endParaRPr sz="1100">
              <a:solidFill>
                <a:srgbClr val="434343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8"/>
          <p:cNvSpPr/>
          <p:nvPr/>
        </p:nvSpPr>
        <p:spPr>
          <a:xfrm>
            <a:off x="52787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5" name="Google Shape;635;p48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6" name="Google Shape;636;p48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7" name="Google Shape;637;p48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8" name="Google Shape;638;p48"/>
          <p:cNvSpPr/>
          <p:nvPr/>
        </p:nvSpPr>
        <p:spPr>
          <a:xfrm>
            <a:off x="5278775" y="1608325"/>
            <a:ext cx="3524400" cy="855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9" name="Google Shape;639;p48"/>
          <p:cNvSpPr txBox="1">
            <a:spLocks noGrp="1"/>
          </p:cNvSpPr>
          <p:nvPr>
            <p:ph type="title"/>
          </p:nvPr>
        </p:nvSpPr>
        <p:spPr>
          <a:xfrm>
            <a:off x="596525" y="753325"/>
            <a:ext cx="5135100" cy="855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783F04"/>
                </a:solidFill>
              </a:rPr>
              <a:t>Organization Background</a:t>
            </a:r>
            <a:endParaRPr>
              <a:solidFill>
                <a:srgbClr val="783F04"/>
              </a:solidFill>
            </a:endParaRPr>
          </a:p>
        </p:txBody>
      </p:sp>
      <p:sp>
        <p:nvSpPr>
          <p:cNvPr id="640" name="Google Shape;640;p48"/>
          <p:cNvSpPr txBox="1">
            <a:spLocks noGrp="1"/>
          </p:cNvSpPr>
          <p:nvPr>
            <p:ph type="title" idx="7"/>
          </p:nvPr>
        </p:nvSpPr>
        <p:spPr>
          <a:xfrm>
            <a:off x="6267450" y="1727078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Md. Aslam</a:t>
            </a:r>
            <a:endParaRPr sz="2000"/>
          </a:p>
        </p:txBody>
      </p:sp>
      <p:pic>
        <p:nvPicPr>
          <p:cNvPr id="641" name="Google Shape;641;p48" title="image_2025-07-24_205707528.png"/>
          <p:cNvPicPr preferRelativeResize="0">
            <a:picLocks noGrp="1"/>
          </p:cNvPicPr>
          <p:nvPr>
            <p:ph type="pic" idx="13"/>
          </p:nvPr>
        </p:nvPicPr>
        <p:blipFill rotWithShape="1">
          <a:blip r:embed="rId3">
            <a:alphaModFix/>
          </a:blip>
          <a:srcRect t="7835" b="7826"/>
          <a:stretch/>
        </p:blipFill>
        <p:spPr>
          <a:xfrm>
            <a:off x="5370750" y="1668175"/>
            <a:ext cx="735600" cy="735600"/>
          </a:xfrm>
          <a:prstGeom prst="ellipse">
            <a:avLst/>
          </a:prstGeom>
        </p:spPr>
      </p:pic>
      <p:sp>
        <p:nvSpPr>
          <p:cNvPr id="642" name="Google Shape;642;p48"/>
          <p:cNvSpPr txBox="1">
            <a:spLocks noGrp="1"/>
          </p:cNvSpPr>
          <p:nvPr>
            <p:ph type="body" idx="23"/>
          </p:nvPr>
        </p:nvSpPr>
        <p:spPr>
          <a:xfrm>
            <a:off x="6267450" y="2078150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/>
              <a:t>Proprietor @SK Timber </a:t>
            </a:r>
            <a:endParaRPr/>
          </a:p>
        </p:txBody>
      </p:sp>
      <p:sp>
        <p:nvSpPr>
          <p:cNvPr id="643" name="Google Shape;643;p48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latin typeface="Neuton"/>
                <a:ea typeface="Neuton"/>
                <a:cs typeface="Neuton"/>
                <a:sym typeface="Neuton"/>
              </a:rPr>
              <a:t>Background</a:t>
            </a:r>
            <a:endParaRPr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644" name="Google Shape;644;p48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>
                <a:latin typeface="Neuton ExtraLight"/>
                <a:ea typeface="Neuton ExtraLight"/>
                <a:cs typeface="Neuton ExtraLight"/>
                <a:sym typeface="Neuton ExtraLight"/>
              </a:rPr>
              <a:t>Problem Statement</a:t>
            </a:r>
            <a:endParaRPr sz="110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645" name="Google Shape;645;p48"/>
          <p:cNvSpPr txBox="1">
            <a:spLocks noGrp="1"/>
          </p:cNvSpPr>
          <p:nvPr>
            <p:ph type="subTitle" idx="3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>
                <a:latin typeface="Neuton ExtraLight"/>
                <a:ea typeface="Neuton ExtraLight"/>
                <a:cs typeface="Neuton ExtraLight"/>
                <a:sym typeface="Neuton ExtraLight"/>
              </a:rPr>
              <a:t>Data Collection</a:t>
            </a:r>
            <a:endParaRPr sz="110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646" name="Google Shape;646;p48"/>
          <p:cNvSpPr txBox="1">
            <a:spLocks noGrp="1"/>
          </p:cNvSpPr>
          <p:nvPr>
            <p:ph type="subTitle" idx="4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>
                <a:latin typeface="Neuton ExtraLight"/>
                <a:ea typeface="Neuton ExtraLight"/>
                <a:cs typeface="Neuton ExtraLight"/>
                <a:sym typeface="Neuton ExtraLight"/>
              </a:rPr>
              <a:t>Analysis</a:t>
            </a:r>
            <a:endParaRPr sz="110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pic>
        <p:nvPicPr>
          <p:cNvPr id="647" name="Google Shape;647;p48" title="Business Owne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9950" y="2571750"/>
            <a:ext cx="2622048" cy="1966524"/>
          </a:xfrm>
          <a:prstGeom prst="rect">
            <a:avLst/>
          </a:prstGeom>
          <a:noFill/>
          <a:ln>
            <a:noFill/>
          </a:ln>
          <a:effectLst>
            <a:outerShdw blurRad="471488" dist="19050" dir="5400000" algn="bl" rotWithShape="0">
              <a:srgbClr val="FFD966">
                <a:alpha val="50000"/>
              </a:srgbClr>
            </a:outerShdw>
          </a:effectLst>
        </p:spPr>
      </p:pic>
      <p:cxnSp>
        <p:nvCxnSpPr>
          <p:cNvPr id="648" name="Google Shape;648;p48"/>
          <p:cNvCxnSpPr>
            <a:endCxn id="641" idx="2"/>
          </p:cNvCxnSpPr>
          <p:nvPr/>
        </p:nvCxnSpPr>
        <p:spPr>
          <a:xfrm rot="10800000">
            <a:off x="5370750" y="2035975"/>
            <a:ext cx="1662900" cy="1386600"/>
          </a:xfrm>
          <a:prstGeom prst="curvedConnector3">
            <a:avLst>
              <a:gd name="adj1" fmla="val 102442"/>
            </a:avLst>
          </a:prstGeom>
          <a:noFill/>
          <a:ln w="38100" cap="flat" cmpd="sng">
            <a:solidFill>
              <a:srgbClr val="E69138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649" name="Google Shape;649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3475" y="1932773"/>
            <a:ext cx="262522" cy="2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175" y="1703313"/>
            <a:ext cx="665025" cy="66502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 txBox="1"/>
          <p:nvPr/>
        </p:nvSpPr>
        <p:spPr>
          <a:xfrm>
            <a:off x="1690063" y="1608325"/>
            <a:ext cx="33324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Neuton"/>
                <a:ea typeface="Neuton"/>
                <a:cs typeface="Neuton"/>
                <a:sym typeface="Neuton"/>
              </a:rPr>
              <a:t>S.K. Timber  |  </a:t>
            </a:r>
            <a:r>
              <a:rPr lang="en" sz="1550">
                <a:solidFill>
                  <a:srgbClr val="434343"/>
                </a:solidFill>
                <a:latin typeface="Neuton Light"/>
                <a:ea typeface="Neuton Light"/>
                <a:cs typeface="Neuton Light"/>
                <a:sym typeface="Neuton Light"/>
              </a:rPr>
              <a:t>Since 2000 </a:t>
            </a:r>
            <a:endParaRPr sz="1550">
              <a:solidFill>
                <a:srgbClr val="434343"/>
              </a:solidFill>
              <a:latin typeface="Neuton Light"/>
              <a:ea typeface="Neuton Light"/>
              <a:cs typeface="Neuton Light"/>
              <a:sym typeface="Neuton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  <a:latin typeface="Neuton Light"/>
                <a:ea typeface="Neuton Light"/>
                <a:cs typeface="Neuton Light"/>
                <a:sym typeface="Neuton Light"/>
              </a:rPr>
              <a:t>Etah Chungi, Near Medha Hospital, Aligarh, Uttar Pradesh, India, 202001</a:t>
            </a:r>
            <a:endParaRPr sz="1550">
              <a:solidFill>
                <a:srgbClr val="434343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  <p:sp>
        <p:nvSpPr>
          <p:cNvPr id="652" name="Google Shape;652;p48"/>
          <p:cNvSpPr txBox="1"/>
          <p:nvPr/>
        </p:nvSpPr>
        <p:spPr>
          <a:xfrm>
            <a:off x="5731650" y="4616125"/>
            <a:ext cx="26220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rPr>
              <a:t>Figure1:  Picture of the business owner Mohammad Aslam in his office @SK Timber</a:t>
            </a:r>
            <a:endParaRPr sz="950">
              <a:solidFill>
                <a:schemeClr val="dk1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  <p:sp>
        <p:nvSpPr>
          <p:cNvPr id="653" name="Google Shape;653;p48"/>
          <p:cNvSpPr/>
          <p:nvPr/>
        </p:nvSpPr>
        <p:spPr>
          <a:xfrm rot="749">
            <a:off x="719250" y="4295275"/>
            <a:ext cx="1377600" cy="365400"/>
          </a:xfrm>
          <a:prstGeom prst="plus">
            <a:avLst>
              <a:gd name="adj" fmla="val 1373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latin typeface="Playfair Display"/>
                <a:ea typeface="Playfair Display"/>
                <a:cs typeface="Playfair Display"/>
                <a:sym typeface="Playfair Display"/>
              </a:rPr>
              <a:t>Quality Products</a:t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54" name="Google Shape;654;p48"/>
          <p:cNvSpPr/>
          <p:nvPr/>
        </p:nvSpPr>
        <p:spPr>
          <a:xfrm rot="749">
            <a:off x="2207613" y="4295275"/>
            <a:ext cx="1377600" cy="365400"/>
          </a:xfrm>
          <a:prstGeom prst="plus">
            <a:avLst>
              <a:gd name="adj" fmla="val 1373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latin typeface="Playfair Display"/>
                <a:ea typeface="Playfair Display"/>
                <a:cs typeface="Playfair Display"/>
                <a:sym typeface="Playfair Display"/>
              </a:rPr>
              <a:t>Fair Pricing</a:t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55" name="Google Shape;655;p48"/>
          <p:cNvSpPr/>
          <p:nvPr/>
        </p:nvSpPr>
        <p:spPr>
          <a:xfrm rot="652">
            <a:off x="3696000" y="4295275"/>
            <a:ext cx="1582800" cy="365400"/>
          </a:xfrm>
          <a:prstGeom prst="plus">
            <a:avLst>
              <a:gd name="adj" fmla="val 1373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latin typeface="Playfair Display"/>
                <a:ea typeface="Playfair Display"/>
                <a:cs typeface="Playfair Display"/>
                <a:sym typeface="Playfair Display"/>
              </a:rPr>
              <a:t>Deep Industry Expertise</a:t>
            </a:r>
            <a:endParaRPr sz="11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56" name="Google Shape;656;p48"/>
          <p:cNvSpPr txBox="1"/>
          <p:nvPr/>
        </p:nvSpPr>
        <p:spPr>
          <a:xfrm>
            <a:off x="804175" y="2519725"/>
            <a:ext cx="4276500" cy="15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rPr>
              <a:t>Regional distributor of plywood and interior materials | 300+ items </a:t>
            </a:r>
            <a:endParaRPr sz="1300">
              <a:solidFill>
                <a:schemeClr val="dk1"/>
              </a:solidFill>
              <a:latin typeface="Neuton Light"/>
              <a:ea typeface="Neuton Light"/>
              <a:cs typeface="Neuton Light"/>
              <a:sym typeface="Neuton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rPr>
              <a:t>Hybrid model leveraging a network of 600+ informal contractors and direct End Customers (ECs) along with some B2B interaction</a:t>
            </a:r>
            <a:r>
              <a:rPr lang="en" sz="21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rPr>
              <a:t>. </a:t>
            </a:r>
            <a:endParaRPr sz="2400">
              <a:latin typeface="Neuton Light"/>
              <a:ea typeface="Neuton Light"/>
              <a:cs typeface="Neuton Light"/>
              <a:sym typeface="Neuton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9"/>
          <p:cNvSpPr/>
          <p:nvPr/>
        </p:nvSpPr>
        <p:spPr>
          <a:xfrm>
            <a:off x="52527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2" name="Google Shape;662;p49"/>
          <p:cNvSpPr/>
          <p:nvPr/>
        </p:nvSpPr>
        <p:spPr>
          <a:xfrm>
            <a:off x="3742025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3" name="Google Shape;663;p49"/>
          <p:cNvSpPr/>
          <p:nvPr/>
        </p:nvSpPr>
        <p:spPr>
          <a:xfrm>
            <a:off x="232601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4" name="Google Shape;664;p49"/>
          <p:cNvSpPr/>
          <p:nvPr/>
        </p:nvSpPr>
        <p:spPr>
          <a:xfrm>
            <a:off x="847100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65" name="Google Shape;665;p49"/>
          <p:cNvSpPr txBox="1">
            <a:spLocks noGrp="1"/>
          </p:cNvSpPr>
          <p:nvPr>
            <p:ph type="subTitle" idx="6"/>
          </p:nvPr>
        </p:nvSpPr>
        <p:spPr>
          <a:xfrm>
            <a:off x="1250088" y="131800"/>
            <a:ext cx="1440000" cy="360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>
                <a:latin typeface="Neuton ExtraLight"/>
                <a:ea typeface="Neuton ExtraLight"/>
                <a:cs typeface="Neuton ExtraLight"/>
                <a:sym typeface="Neuton ExtraLight"/>
              </a:rPr>
              <a:t>Problem Statement</a:t>
            </a:r>
            <a:endParaRPr sz="110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666" name="Google Shape;666;p49"/>
          <p:cNvSpPr txBox="1">
            <a:spLocks noGrp="1"/>
          </p:cNvSpPr>
          <p:nvPr>
            <p:ph type="subTitle" idx="7"/>
          </p:nvPr>
        </p:nvSpPr>
        <p:spPr>
          <a:xfrm>
            <a:off x="2729013" y="131800"/>
            <a:ext cx="1440000" cy="360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 b="0">
                <a:latin typeface="Neuton ExtraLight"/>
                <a:ea typeface="Neuton ExtraLight"/>
                <a:cs typeface="Neuton ExtraLight"/>
                <a:sym typeface="Neuton ExtraLight"/>
              </a:rPr>
              <a:t>Data Collection</a:t>
            </a:r>
            <a:endParaRPr sz="1100" b="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667" name="Google Shape;667;p49"/>
          <p:cNvSpPr txBox="1">
            <a:spLocks noGrp="1"/>
          </p:cNvSpPr>
          <p:nvPr>
            <p:ph type="subTitle" idx="7"/>
          </p:nvPr>
        </p:nvSpPr>
        <p:spPr>
          <a:xfrm>
            <a:off x="4145025" y="131800"/>
            <a:ext cx="1440000" cy="360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 b="0">
                <a:latin typeface="Neuton ExtraLight"/>
                <a:ea typeface="Neuton ExtraLight"/>
                <a:cs typeface="Neuton ExtraLight"/>
                <a:sym typeface="Neuton ExtraLight"/>
              </a:rPr>
              <a:t>Analysis</a:t>
            </a:r>
            <a:endParaRPr sz="1100" b="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668" name="Google Shape;668;p49"/>
          <p:cNvSpPr txBox="1">
            <a:spLocks noGrp="1"/>
          </p:cNvSpPr>
          <p:nvPr>
            <p:ph type="subTitle" idx="7"/>
          </p:nvPr>
        </p:nvSpPr>
        <p:spPr>
          <a:xfrm>
            <a:off x="5655725" y="131800"/>
            <a:ext cx="1440000" cy="360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 b="0">
                <a:latin typeface="Neuton ExtraLight"/>
                <a:ea typeface="Neuton ExtraLight"/>
                <a:cs typeface="Neuton ExtraLight"/>
                <a:sym typeface="Neuton ExtraLight"/>
              </a:rPr>
              <a:t>Findings</a:t>
            </a:r>
            <a:endParaRPr sz="1100" b="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pic>
        <p:nvPicPr>
          <p:cNvPr id="669" name="Google Shape;669;p49" title="image_2025-07-24_205707528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835" b="7826"/>
          <a:stretch/>
        </p:blipFill>
        <p:spPr>
          <a:xfrm>
            <a:off x="596525" y="2151150"/>
            <a:ext cx="735600" cy="735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70" name="Google Shape;670;p49"/>
          <p:cNvSpPr/>
          <p:nvPr/>
        </p:nvSpPr>
        <p:spPr>
          <a:xfrm>
            <a:off x="1476325" y="2259025"/>
            <a:ext cx="1833900" cy="735600"/>
          </a:xfrm>
          <a:prstGeom prst="wedgeRoundRectCallout">
            <a:avLst>
              <a:gd name="adj1" fmla="val -57788"/>
              <a:gd name="adj2" fmla="val -30740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rPr>
              <a:t>Current scenario is such that “Maintaining good relationship with contractors is much important than direct customer.”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71" name="Google Shape;671;p49" title="image_2025-07-24_205707528.png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7835" b="7826"/>
          <a:stretch/>
        </p:blipFill>
        <p:spPr>
          <a:xfrm>
            <a:off x="596525" y="3907075"/>
            <a:ext cx="735600" cy="735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72" name="Google Shape;672;p49"/>
          <p:cNvSpPr/>
          <p:nvPr/>
        </p:nvSpPr>
        <p:spPr>
          <a:xfrm>
            <a:off x="1476325" y="3907075"/>
            <a:ext cx="1117800" cy="360000"/>
          </a:xfrm>
          <a:prstGeom prst="wedgeRoundRectCallout">
            <a:avLst>
              <a:gd name="adj1" fmla="val -63446"/>
              <a:gd name="adj2" fmla="val 41458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rPr>
              <a:t>Oh…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pic>
        <p:nvPicPr>
          <p:cNvPr id="673" name="Google Shape;673;p49" title="image_2025-07-25_053718410.png"/>
          <p:cNvPicPr preferRelativeResize="0">
            <a:picLocks noGrp="1"/>
          </p:cNvPicPr>
          <p:nvPr>
            <p:ph type="pic" idx="4"/>
          </p:nvPr>
        </p:nvPicPr>
        <p:blipFill rotWithShape="1">
          <a:blip r:embed="rId4">
            <a:alphaModFix/>
          </a:blip>
          <a:srcRect t="2088" b="2088"/>
          <a:stretch/>
        </p:blipFill>
        <p:spPr>
          <a:xfrm>
            <a:off x="3487950" y="3083050"/>
            <a:ext cx="735600" cy="735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74" name="Google Shape;674;p49"/>
          <p:cNvSpPr/>
          <p:nvPr/>
        </p:nvSpPr>
        <p:spPr>
          <a:xfrm>
            <a:off x="1893475" y="3149200"/>
            <a:ext cx="1440000" cy="603300"/>
          </a:xfrm>
          <a:prstGeom prst="wedgeRoundRectCallout">
            <a:avLst>
              <a:gd name="adj1" fmla="val 62608"/>
              <a:gd name="adj2" fmla="val -14487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rPr>
              <a:t>Data reveals more and deeper issues.</a:t>
            </a:r>
            <a:endParaRPr sz="12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75" name="Google Shape;675;p49"/>
          <p:cNvSpPr txBox="1"/>
          <p:nvPr/>
        </p:nvSpPr>
        <p:spPr>
          <a:xfrm>
            <a:off x="596525" y="613475"/>
            <a:ext cx="7250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783F04"/>
                </a:solidFill>
                <a:latin typeface="Neuton Light"/>
                <a:ea typeface="Neuton Light"/>
                <a:cs typeface="Neuton Light"/>
                <a:sym typeface="Neuton Light"/>
              </a:rPr>
              <a:t>Framing the Problem by Assessing the Current State of Business</a:t>
            </a:r>
            <a:endParaRPr sz="3600">
              <a:solidFill>
                <a:srgbClr val="783F04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  <p:grpSp>
        <p:nvGrpSpPr>
          <p:cNvPr id="676" name="Google Shape;676;p49"/>
          <p:cNvGrpSpPr/>
          <p:nvPr/>
        </p:nvGrpSpPr>
        <p:grpSpPr>
          <a:xfrm>
            <a:off x="4572000" y="2028140"/>
            <a:ext cx="4303301" cy="2614508"/>
            <a:chOff x="1224050" y="1391276"/>
            <a:chExt cx="5060326" cy="2360943"/>
          </a:xfrm>
        </p:grpSpPr>
        <p:sp>
          <p:nvSpPr>
            <p:cNvPr id="677" name="Google Shape;677;p49"/>
            <p:cNvSpPr txBox="1"/>
            <p:nvPr/>
          </p:nvSpPr>
          <p:spPr>
            <a:xfrm>
              <a:off x="1224063" y="1391276"/>
              <a:ext cx="13185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400" b="1">
                  <a:solidFill>
                    <a:srgbClr val="4F4B5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01</a:t>
              </a:r>
              <a:endParaRPr sz="6400" b="1">
                <a:solidFill>
                  <a:srgbClr val="4F4B5F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sp>
          <p:nvSpPr>
            <p:cNvPr id="678" name="Google Shape;678;p49"/>
            <p:cNvSpPr txBox="1"/>
            <p:nvPr/>
          </p:nvSpPr>
          <p:spPr>
            <a:xfrm>
              <a:off x="1224050" y="2896550"/>
              <a:ext cx="1318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91425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F4B5F"/>
                  </a:solidFill>
                  <a:latin typeface="Red Hat Text"/>
                  <a:ea typeface="Red Hat Text"/>
                  <a:cs typeface="Red Hat Text"/>
                  <a:sym typeface="Red Hat Text"/>
                </a:rPr>
                <a:t>Enhance direct customer relationship by optimizing the contractor reliance</a:t>
              </a:r>
              <a:endParaRPr sz="800">
                <a:solidFill>
                  <a:srgbClr val="4F4B5F"/>
                </a:solidFill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679" name="Google Shape;679;p49"/>
            <p:cNvSpPr txBox="1"/>
            <p:nvPr/>
          </p:nvSpPr>
          <p:spPr>
            <a:xfrm>
              <a:off x="1224076" y="2403463"/>
              <a:ext cx="1491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F4B5F"/>
                  </a:solidFill>
                  <a:latin typeface="Chakra Petch SemiBold"/>
                  <a:ea typeface="Chakra Petch SemiBold"/>
                  <a:cs typeface="Chakra Petch SemiBold"/>
                  <a:sym typeface="Chakra Petch SemiBold"/>
                </a:rPr>
                <a:t>CONTRACTOR OVERRELIANCE</a:t>
              </a:r>
              <a:endParaRPr sz="1200">
                <a:solidFill>
                  <a:srgbClr val="4F4B5F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4F4B5F"/>
                  </a:solidFill>
                  <a:latin typeface="Chakra Petch SemiBold"/>
                  <a:ea typeface="Chakra Petch SemiBold"/>
                  <a:cs typeface="Chakra Petch SemiBold"/>
                  <a:sym typeface="Chakra Petch SemiBold"/>
                </a:rPr>
                <a:t>Threatening EC Relations</a:t>
              </a:r>
              <a:endParaRPr sz="800">
                <a:solidFill>
                  <a:srgbClr val="4F4B5F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endParaRPr>
            </a:p>
          </p:txBody>
        </p:sp>
        <p:sp>
          <p:nvSpPr>
            <p:cNvPr id="680" name="Google Shape;680;p49"/>
            <p:cNvSpPr txBox="1"/>
            <p:nvPr/>
          </p:nvSpPr>
          <p:spPr>
            <a:xfrm>
              <a:off x="2990737" y="2767019"/>
              <a:ext cx="13185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400" b="1">
                  <a:solidFill>
                    <a:srgbClr val="1D5930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02</a:t>
              </a:r>
              <a:endParaRPr sz="6400" b="1">
                <a:solidFill>
                  <a:srgbClr val="1D5930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681" name="Google Shape;681;p49"/>
            <p:cNvCxnSpPr/>
            <p:nvPr/>
          </p:nvCxnSpPr>
          <p:spPr>
            <a:xfrm>
              <a:off x="2912688" y="1504780"/>
              <a:ext cx="0" cy="2163300"/>
            </a:xfrm>
            <a:prstGeom prst="straightConnector1">
              <a:avLst/>
            </a:prstGeom>
            <a:noFill/>
            <a:ln w="1905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2" name="Google Shape;682;p49"/>
            <p:cNvSpPr txBox="1"/>
            <p:nvPr/>
          </p:nvSpPr>
          <p:spPr>
            <a:xfrm>
              <a:off x="2990725" y="2046750"/>
              <a:ext cx="1318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91425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rgbClr val="4F4B5F"/>
                  </a:solidFill>
                  <a:latin typeface="Red Hat Text"/>
                  <a:ea typeface="Red Hat Text"/>
                  <a:cs typeface="Red Hat Text"/>
                  <a:sym typeface="Red Hat Text"/>
                </a:rPr>
                <a:t>Analyze existing credit practices to uncover the true credit exposure and</a:t>
              </a:r>
              <a:endParaRPr sz="800">
                <a:solidFill>
                  <a:srgbClr val="4F4B5F"/>
                </a:solidFill>
                <a:latin typeface="Red Hat Text"/>
                <a:ea typeface="Red Hat Text"/>
                <a:cs typeface="Red Hat Text"/>
                <a:sym typeface="Red Hat Tex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rgbClr val="4F4B5F"/>
                  </a:solidFill>
                  <a:latin typeface="Red Hat Text"/>
                  <a:ea typeface="Red Hat Text"/>
                  <a:cs typeface="Red Hat Text"/>
                  <a:sym typeface="Red Hat Text"/>
                </a:rPr>
                <a:t>suggest data-backed credit management processes.</a:t>
              </a:r>
              <a:endParaRPr sz="800">
                <a:solidFill>
                  <a:srgbClr val="4F4B5F"/>
                </a:solidFill>
                <a:latin typeface="Red Hat Text"/>
                <a:ea typeface="Red Hat Text"/>
                <a:cs typeface="Red Hat Text"/>
                <a:sym typeface="Red Hat Tex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4F4B5F"/>
                </a:solidFill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683" name="Google Shape;683;p49"/>
            <p:cNvSpPr txBox="1"/>
            <p:nvPr/>
          </p:nvSpPr>
          <p:spPr>
            <a:xfrm>
              <a:off x="2990751" y="1570288"/>
              <a:ext cx="15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1D5930"/>
                  </a:solidFill>
                  <a:latin typeface="Chakra Petch SemiBold"/>
                  <a:ea typeface="Chakra Petch SemiBold"/>
                  <a:cs typeface="Chakra Petch SemiBold"/>
                  <a:sym typeface="Chakra Petch SemiBold"/>
                </a:rPr>
                <a:t>LATENT CREDIT RISK EXPOSURE</a:t>
              </a:r>
              <a:endParaRPr sz="1200">
                <a:solidFill>
                  <a:srgbClr val="1D5930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1D5930"/>
                  </a:solidFill>
                  <a:latin typeface="Chakra Petch SemiBold"/>
                  <a:ea typeface="Chakra Petch SemiBold"/>
                  <a:cs typeface="Chakra Petch SemiBold"/>
                  <a:sym typeface="Chakra Petch SemiBold"/>
                </a:rPr>
                <a:t>Limiting The Cash Flow</a:t>
              </a:r>
              <a:endParaRPr sz="800">
                <a:solidFill>
                  <a:srgbClr val="1D5930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endParaRPr>
            </a:p>
          </p:txBody>
        </p:sp>
        <p:sp>
          <p:nvSpPr>
            <p:cNvPr id="684" name="Google Shape;684;p49"/>
            <p:cNvSpPr txBox="1"/>
            <p:nvPr/>
          </p:nvSpPr>
          <p:spPr>
            <a:xfrm>
              <a:off x="4768763" y="1391276"/>
              <a:ext cx="13185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400" b="1">
                  <a:solidFill>
                    <a:srgbClr val="E5622B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03</a:t>
              </a:r>
              <a:endParaRPr sz="6400" b="1">
                <a:solidFill>
                  <a:srgbClr val="E5622B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cxnSp>
          <p:nvCxnSpPr>
            <p:cNvPr id="685" name="Google Shape;685;p49"/>
            <p:cNvCxnSpPr/>
            <p:nvPr/>
          </p:nvCxnSpPr>
          <p:spPr>
            <a:xfrm>
              <a:off x="4679363" y="1597763"/>
              <a:ext cx="0" cy="2055000"/>
            </a:xfrm>
            <a:prstGeom prst="straightConnector1">
              <a:avLst/>
            </a:prstGeom>
            <a:noFill/>
            <a:ln w="19050" cap="flat" cmpd="sng">
              <a:solidFill>
                <a:srgbClr val="D9D9D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6" name="Google Shape;686;p49"/>
            <p:cNvSpPr txBox="1"/>
            <p:nvPr/>
          </p:nvSpPr>
          <p:spPr>
            <a:xfrm>
              <a:off x="4768775" y="2856475"/>
              <a:ext cx="1318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91425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rgbClr val="4F4B5F"/>
                  </a:solidFill>
                  <a:latin typeface="Red Hat Text"/>
                  <a:ea typeface="Red Hat Text"/>
                  <a:cs typeface="Red Hat Text"/>
                  <a:sym typeface="Red Hat Text"/>
                </a:rPr>
                <a:t>Identify seasonality patterns and assess inventory turnover rates to propose stock optimization</a:t>
              </a:r>
              <a:endParaRPr sz="800">
                <a:solidFill>
                  <a:srgbClr val="4F4B5F"/>
                </a:solidFill>
                <a:latin typeface="Red Hat Text"/>
                <a:ea typeface="Red Hat Text"/>
                <a:cs typeface="Red Hat Text"/>
                <a:sym typeface="Red Hat Tex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rgbClr val="4F4B5F"/>
                  </a:solidFill>
                  <a:latin typeface="Red Hat Text"/>
                  <a:ea typeface="Red Hat Text"/>
                  <a:cs typeface="Red Hat Text"/>
                  <a:sym typeface="Red Hat Text"/>
                </a:rPr>
                <a:t>strategies aligned with demand cycles.</a:t>
              </a:r>
              <a:endParaRPr sz="800">
                <a:solidFill>
                  <a:srgbClr val="4F4B5F"/>
                </a:solidFill>
                <a:latin typeface="Red Hat Text"/>
                <a:ea typeface="Red Hat Text"/>
                <a:cs typeface="Red Hat Text"/>
                <a:sym typeface="Red Hat Tex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4F4B5F"/>
                </a:solidFill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687" name="Google Shape;687;p49"/>
            <p:cNvSpPr txBox="1"/>
            <p:nvPr/>
          </p:nvSpPr>
          <p:spPr>
            <a:xfrm>
              <a:off x="4768776" y="2403463"/>
              <a:ext cx="15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E5622B"/>
                  </a:solidFill>
                  <a:latin typeface="Chakra Petch SemiBold"/>
                  <a:ea typeface="Chakra Petch SemiBold"/>
                  <a:cs typeface="Chakra Petch SemiBold"/>
                  <a:sym typeface="Chakra Petch SemiBold"/>
                </a:rPr>
                <a:t>SEASONAL DEMAND VOLATILITY  </a:t>
              </a:r>
              <a:r>
                <a:rPr lang="en" sz="700">
                  <a:solidFill>
                    <a:srgbClr val="E5622B"/>
                  </a:solidFill>
                  <a:latin typeface="Chakra Petch SemiBold"/>
                  <a:ea typeface="Chakra Petch SemiBold"/>
                  <a:cs typeface="Chakra Petch SemiBold"/>
                  <a:sym typeface="Chakra Petch SemiBold"/>
                </a:rPr>
                <a:t>Disrupting Inventory Planning</a:t>
              </a:r>
              <a:endParaRPr sz="700">
                <a:solidFill>
                  <a:srgbClr val="E5622B"/>
                </a:solidFill>
                <a:latin typeface="Chakra Petch SemiBold"/>
                <a:ea typeface="Chakra Petch SemiBold"/>
                <a:cs typeface="Chakra Petch SemiBold"/>
                <a:sym typeface="Chakra Petch Semi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0"/>
          <p:cNvSpPr/>
          <p:nvPr/>
        </p:nvSpPr>
        <p:spPr>
          <a:xfrm>
            <a:off x="536461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3" name="Google Shape;693;p50"/>
          <p:cNvSpPr/>
          <p:nvPr/>
        </p:nvSpPr>
        <p:spPr>
          <a:xfrm>
            <a:off x="38963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4" name="Google Shape;694;p50"/>
          <p:cNvSpPr/>
          <p:nvPr/>
        </p:nvSpPr>
        <p:spPr>
          <a:xfrm>
            <a:off x="2380550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5" name="Google Shape;695;p50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6" name="Google Shape;696;p50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7" name="Google Shape;697;p50"/>
          <p:cNvSpPr/>
          <p:nvPr/>
        </p:nvSpPr>
        <p:spPr>
          <a:xfrm>
            <a:off x="912225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8" name="Google Shape;698;p50"/>
          <p:cNvSpPr/>
          <p:nvPr/>
        </p:nvSpPr>
        <p:spPr>
          <a:xfrm>
            <a:off x="4689925" y="2803975"/>
            <a:ext cx="4232100" cy="1931400"/>
          </a:xfrm>
          <a:prstGeom prst="rect">
            <a:avLst/>
          </a:prstGeom>
          <a:solidFill>
            <a:srgbClr val="D2FD78"/>
          </a:solidFill>
          <a:ln w="9525" cap="flat" cmpd="sng">
            <a:solidFill>
              <a:srgbClr val="D2FD7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50"/>
          <p:cNvSpPr txBox="1">
            <a:spLocks noGrp="1"/>
          </p:cNvSpPr>
          <p:nvPr>
            <p:ph type="subTitle" idx="3"/>
          </p:nvPr>
        </p:nvSpPr>
        <p:spPr>
          <a:xfrm>
            <a:off x="1315213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 b="1">
                <a:latin typeface="Neuton"/>
                <a:ea typeface="Neuton"/>
                <a:cs typeface="Neuton"/>
                <a:sym typeface="Neuton"/>
              </a:rPr>
              <a:t>Data Collection</a:t>
            </a:r>
            <a:endParaRPr sz="1100" b="1"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00" name="Google Shape;700;p50"/>
          <p:cNvSpPr txBox="1">
            <a:spLocks noGrp="1"/>
          </p:cNvSpPr>
          <p:nvPr>
            <p:ph type="subTitle" idx="3"/>
          </p:nvPr>
        </p:nvSpPr>
        <p:spPr>
          <a:xfrm>
            <a:off x="27835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 b="0">
                <a:latin typeface="Neuton ExtraLight"/>
                <a:ea typeface="Neuton ExtraLight"/>
                <a:cs typeface="Neuton ExtraLight"/>
                <a:sym typeface="Neuton ExtraLight"/>
              </a:rPr>
              <a:t>Analysis</a:t>
            </a:r>
            <a:endParaRPr sz="1100" b="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701" name="Google Shape;701;p50"/>
          <p:cNvSpPr txBox="1">
            <a:spLocks noGrp="1"/>
          </p:cNvSpPr>
          <p:nvPr>
            <p:ph type="subTitle" idx="3"/>
          </p:nvPr>
        </p:nvSpPr>
        <p:spPr>
          <a:xfrm>
            <a:off x="4299325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 b="0">
                <a:latin typeface="Neuton ExtraLight"/>
                <a:ea typeface="Neuton ExtraLight"/>
                <a:cs typeface="Neuton ExtraLight"/>
                <a:sym typeface="Neuton ExtraLight"/>
              </a:rPr>
              <a:t>Findings</a:t>
            </a:r>
            <a:endParaRPr sz="1100" b="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702" name="Google Shape;702;p50"/>
          <p:cNvSpPr txBox="1">
            <a:spLocks noGrp="1"/>
          </p:cNvSpPr>
          <p:nvPr>
            <p:ph type="subTitle" idx="3"/>
          </p:nvPr>
        </p:nvSpPr>
        <p:spPr>
          <a:xfrm>
            <a:off x="5767613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>
                <a:latin typeface="Neuton ExtraLight"/>
                <a:ea typeface="Neuton ExtraLight"/>
                <a:cs typeface="Neuton ExtraLight"/>
                <a:sym typeface="Neuton ExtraLight"/>
              </a:rPr>
              <a:t>Recommendations</a:t>
            </a:r>
            <a:endParaRPr sz="1100" b="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703" name="Google Shape;703;p50"/>
          <p:cNvSpPr txBox="1"/>
          <p:nvPr/>
        </p:nvSpPr>
        <p:spPr>
          <a:xfrm>
            <a:off x="596525" y="613475"/>
            <a:ext cx="7250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783F04"/>
                </a:solidFill>
                <a:latin typeface="Neuton Light"/>
                <a:ea typeface="Neuton Light"/>
                <a:cs typeface="Neuton Light"/>
                <a:sym typeface="Neuton Light"/>
              </a:rPr>
              <a:t>What Data to Collect ?</a:t>
            </a:r>
            <a:endParaRPr sz="3600">
              <a:solidFill>
                <a:srgbClr val="783F04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  <p:cxnSp>
        <p:nvCxnSpPr>
          <p:cNvPr id="704" name="Google Shape;704;p50"/>
          <p:cNvCxnSpPr>
            <a:stCxn id="705" idx="2"/>
            <a:endCxn id="706" idx="0"/>
          </p:cNvCxnSpPr>
          <p:nvPr/>
        </p:nvCxnSpPr>
        <p:spPr>
          <a:xfrm rot="-5400000" flipH="1">
            <a:off x="2215963" y="2277425"/>
            <a:ext cx="329100" cy="10146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56156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707" name="Google Shape;707;p50"/>
          <p:cNvCxnSpPr>
            <a:stCxn id="706" idx="2"/>
            <a:endCxn id="708" idx="0"/>
          </p:cNvCxnSpPr>
          <p:nvPr/>
        </p:nvCxnSpPr>
        <p:spPr>
          <a:xfrm rot="-5400000" flipH="1">
            <a:off x="2926477" y="3245862"/>
            <a:ext cx="407400" cy="484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701C7F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709" name="Google Shape;709;p50"/>
          <p:cNvCxnSpPr>
            <a:stCxn id="710" idx="0"/>
            <a:endCxn id="706" idx="2"/>
          </p:cNvCxnSpPr>
          <p:nvPr/>
        </p:nvCxnSpPr>
        <p:spPr>
          <a:xfrm rot="-5400000">
            <a:off x="2441990" y="3245876"/>
            <a:ext cx="407400" cy="484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701C7F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711" name="Google Shape;711;p50"/>
          <p:cNvCxnSpPr>
            <a:stCxn id="712" idx="0"/>
            <a:endCxn id="705" idx="2"/>
          </p:cNvCxnSpPr>
          <p:nvPr/>
        </p:nvCxnSpPr>
        <p:spPr>
          <a:xfrm rot="-5400000">
            <a:off x="1201250" y="2277462"/>
            <a:ext cx="329100" cy="10146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561561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705" name="Google Shape;705;p50"/>
          <p:cNvSpPr txBox="1"/>
          <p:nvPr/>
        </p:nvSpPr>
        <p:spPr>
          <a:xfrm>
            <a:off x="1432513" y="2285075"/>
            <a:ext cx="8814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400" tIns="52400" rIns="52400" bIns="52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73">
                <a:solidFill>
                  <a:srgbClr val="701C7F"/>
                </a:solidFill>
                <a:latin typeface="Heebo Light"/>
                <a:ea typeface="Heebo Light"/>
                <a:cs typeface="Heebo Light"/>
                <a:sym typeface="Heebo Light"/>
              </a:rPr>
              <a:t>SALES</a:t>
            </a:r>
            <a:endParaRPr sz="1173">
              <a:solidFill>
                <a:srgbClr val="701C7F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sp>
        <p:nvSpPr>
          <p:cNvPr id="712" name="Google Shape;712;p50"/>
          <p:cNvSpPr txBox="1"/>
          <p:nvPr/>
        </p:nvSpPr>
        <p:spPr>
          <a:xfrm>
            <a:off x="417800" y="2949312"/>
            <a:ext cx="8814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400" tIns="52400" rIns="52400" bIns="52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Sales FY25</a:t>
            </a:r>
            <a:endParaRPr sz="9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50"/>
          <p:cNvSpPr txBox="1"/>
          <p:nvPr/>
        </p:nvSpPr>
        <p:spPr>
          <a:xfrm>
            <a:off x="2447227" y="2949312"/>
            <a:ext cx="8814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400" tIns="52400" rIns="52400" bIns="52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INVOICES</a:t>
            </a:r>
            <a:endParaRPr sz="9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50"/>
          <p:cNvSpPr txBox="1"/>
          <p:nvPr/>
        </p:nvSpPr>
        <p:spPr>
          <a:xfrm>
            <a:off x="2931714" y="3691826"/>
            <a:ext cx="8814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400" tIns="52400" rIns="52400" bIns="52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B2C (9)</a:t>
            </a:r>
            <a:endParaRPr sz="9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50"/>
          <p:cNvSpPr txBox="1"/>
          <p:nvPr/>
        </p:nvSpPr>
        <p:spPr>
          <a:xfrm>
            <a:off x="1962740" y="3691826"/>
            <a:ext cx="8814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400" tIns="52400" rIns="52400" bIns="52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B2B (8)</a:t>
            </a:r>
            <a:endParaRPr sz="9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3" name="Google Shape;713;p50"/>
          <p:cNvCxnSpPr>
            <a:stCxn id="714" idx="2"/>
            <a:endCxn id="715" idx="0"/>
          </p:cNvCxnSpPr>
          <p:nvPr/>
        </p:nvCxnSpPr>
        <p:spPr>
          <a:xfrm rot="-5400000" flipH="1">
            <a:off x="5383301" y="2277419"/>
            <a:ext cx="329400" cy="10161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561561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716" name="Google Shape;716;p50"/>
          <p:cNvCxnSpPr>
            <a:stCxn id="717" idx="0"/>
            <a:endCxn id="715" idx="2"/>
          </p:cNvCxnSpPr>
          <p:nvPr/>
        </p:nvCxnSpPr>
        <p:spPr>
          <a:xfrm rot="-5400000">
            <a:off x="5874026" y="3468029"/>
            <a:ext cx="364800" cy="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rgbClr val="701C7F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718" name="Google Shape;718;p50"/>
          <p:cNvCxnSpPr>
            <a:stCxn id="719" idx="0"/>
            <a:endCxn id="714" idx="2"/>
          </p:cNvCxnSpPr>
          <p:nvPr/>
        </p:nvCxnSpPr>
        <p:spPr>
          <a:xfrm rot="-5400000">
            <a:off x="4508199" y="2418350"/>
            <a:ext cx="329400" cy="7344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561561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714" name="Google Shape;714;p50"/>
          <p:cNvSpPr txBox="1"/>
          <p:nvPr/>
        </p:nvSpPr>
        <p:spPr>
          <a:xfrm>
            <a:off x="4598501" y="2285069"/>
            <a:ext cx="8829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475" tIns="52475" rIns="52475" bIns="52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01C7F"/>
                </a:solidFill>
                <a:latin typeface="Heebo Light"/>
                <a:ea typeface="Heebo Light"/>
                <a:cs typeface="Heebo Light"/>
                <a:sym typeface="Heebo Light"/>
              </a:rPr>
              <a:t>PURCHASE</a:t>
            </a:r>
            <a:endParaRPr sz="1200">
              <a:solidFill>
                <a:srgbClr val="701C7F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sp>
        <p:nvSpPr>
          <p:cNvPr id="719" name="Google Shape;719;p50"/>
          <p:cNvSpPr txBox="1"/>
          <p:nvPr/>
        </p:nvSpPr>
        <p:spPr>
          <a:xfrm>
            <a:off x="3869499" y="2950250"/>
            <a:ext cx="8724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475" tIns="52475" rIns="52475" bIns="52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Purchase FY25</a:t>
            </a:r>
            <a:endParaRPr sz="9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50"/>
          <p:cNvSpPr txBox="1"/>
          <p:nvPr/>
        </p:nvSpPr>
        <p:spPr>
          <a:xfrm>
            <a:off x="5614677" y="2950255"/>
            <a:ext cx="8829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475" tIns="52475" rIns="52475" bIns="52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INVOICES</a:t>
            </a:r>
            <a:endParaRPr sz="9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50"/>
          <p:cNvSpPr txBox="1"/>
          <p:nvPr/>
        </p:nvSpPr>
        <p:spPr>
          <a:xfrm>
            <a:off x="5614676" y="3650729"/>
            <a:ext cx="882900" cy="3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475" tIns="52475" rIns="52475" bIns="52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Purchase (11)</a:t>
            </a:r>
            <a:endParaRPr sz="9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0" name="Google Shape;720;p50"/>
          <p:cNvCxnSpPr>
            <a:stCxn id="705" idx="2"/>
            <a:endCxn id="721" idx="0"/>
          </p:cNvCxnSpPr>
          <p:nvPr/>
        </p:nvCxnSpPr>
        <p:spPr>
          <a:xfrm rot="5400000">
            <a:off x="1166713" y="2819375"/>
            <a:ext cx="905700" cy="507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561561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721" name="Google Shape;721;p50"/>
          <p:cNvSpPr txBox="1"/>
          <p:nvPr/>
        </p:nvSpPr>
        <p:spPr>
          <a:xfrm>
            <a:off x="925090" y="3525876"/>
            <a:ext cx="8814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400" tIns="52400" rIns="52400" bIns="52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EC ESTIMATE MEMOS</a:t>
            </a:r>
            <a:endParaRPr sz="9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2" name="Google Shape;722;p50"/>
          <p:cNvCxnSpPr>
            <a:stCxn id="721" idx="2"/>
            <a:endCxn id="723" idx="0"/>
          </p:cNvCxnSpPr>
          <p:nvPr/>
        </p:nvCxnSpPr>
        <p:spPr>
          <a:xfrm rot="-5400000" flipH="1">
            <a:off x="1404340" y="3822426"/>
            <a:ext cx="407400" cy="484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701C7F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724" name="Google Shape;724;p50"/>
          <p:cNvCxnSpPr>
            <a:stCxn id="725" idx="0"/>
            <a:endCxn id="721" idx="2"/>
          </p:cNvCxnSpPr>
          <p:nvPr/>
        </p:nvCxnSpPr>
        <p:spPr>
          <a:xfrm rot="-5400000">
            <a:off x="893017" y="3795575"/>
            <a:ext cx="407400" cy="538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701C7F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723" name="Google Shape;723;p50"/>
          <p:cNvSpPr txBox="1"/>
          <p:nvPr/>
        </p:nvSpPr>
        <p:spPr>
          <a:xfrm>
            <a:off x="1409576" y="4268376"/>
            <a:ext cx="8814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400" tIns="52400" rIns="52400" bIns="52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Organic Customers (9)</a:t>
            </a:r>
            <a:endParaRPr sz="9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50"/>
          <p:cNvSpPr txBox="1"/>
          <p:nvPr/>
        </p:nvSpPr>
        <p:spPr>
          <a:xfrm>
            <a:off x="396067" y="4268375"/>
            <a:ext cx="863100" cy="3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400" tIns="52400" rIns="52400" bIns="52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Contractor Driven (9)</a:t>
            </a:r>
            <a:endParaRPr sz="9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50"/>
          <p:cNvSpPr txBox="1"/>
          <p:nvPr/>
        </p:nvSpPr>
        <p:spPr>
          <a:xfrm>
            <a:off x="6705175" y="2221788"/>
            <a:ext cx="2110200" cy="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475" tIns="52475" rIns="52475" bIns="524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01C7F"/>
                </a:solidFill>
                <a:latin typeface="Heebo Light"/>
                <a:ea typeface="Heebo Light"/>
                <a:cs typeface="Heebo Light"/>
                <a:sym typeface="Heebo Light"/>
              </a:rPr>
              <a:t>Contractor Performance Data </a:t>
            </a:r>
            <a:endParaRPr sz="1200">
              <a:solidFill>
                <a:srgbClr val="701C7F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01C7F"/>
                </a:solidFill>
                <a:latin typeface="Heebo Light"/>
                <a:ea typeface="Heebo Light"/>
                <a:cs typeface="Heebo Light"/>
                <a:sym typeface="Heebo Light"/>
              </a:rPr>
              <a:t>(A-List Only | 67 Individuals)</a:t>
            </a:r>
            <a:endParaRPr sz="1200">
              <a:solidFill>
                <a:srgbClr val="701C7F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pic>
        <p:nvPicPr>
          <p:cNvPr id="727" name="Google Shape;72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825" y="1546100"/>
            <a:ext cx="738900" cy="7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9875" y="1546100"/>
            <a:ext cx="738900" cy="7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60100" y="3269800"/>
            <a:ext cx="738900" cy="7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50"/>
          <p:cNvSpPr txBox="1"/>
          <p:nvPr/>
        </p:nvSpPr>
        <p:spPr>
          <a:xfrm>
            <a:off x="6574450" y="4008700"/>
            <a:ext cx="211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01C7F"/>
                </a:solidFill>
                <a:latin typeface="Heebo Light"/>
                <a:ea typeface="Heebo Light"/>
                <a:cs typeface="Heebo Light"/>
                <a:sym typeface="Heebo Light"/>
              </a:rPr>
              <a:t>Inventory Data</a:t>
            </a:r>
            <a:endParaRPr sz="1200">
              <a:solidFill>
                <a:srgbClr val="701C7F"/>
              </a:solidFill>
              <a:latin typeface="Heebo Light"/>
              <a:ea typeface="Heebo Light"/>
              <a:cs typeface="Heebo Light"/>
              <a:sym typeface="Heebo Ligh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01C7F"/>
                </a:solidFill>
                <a:latin typeface="Heebo Light"/>
                <a:ea typeface="Heebo Light"/>
                <a:cs typeface="Heebo Light"/>
                <a:sym typeface="Heebo Light"/>
              </a:rPr>
              <a:t>(DERIVED)</a:t>
            </a:r>
            <a:endParaRPr sz="1200">
              <a:solidFill>
                <a:srgbClr val="701C7F"/>
              </a:solidFill>
              <a:latin typeface="Heebo Light"/>
              <a:ea typeface="Heebo Light"/>
              <a:cs typeface="Heebo Light"/>
              <a:sym typeface="Heebo Light"/>
            </a:endParaRPr>
          </a:p>
        </p:txBody>
      </p:sp>
      <p:pic>
        <p:nvPicPr>
          <p:cNvPr id="731" name="Google Shape;731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475" y="4312324"/>
            <a:ext cx="242049" cy="2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2200" y="4312325"/>
            <a:ext cx="247200" cy="2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7475" y="2993250"/>
            <a:ext cx="247200" cy="2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62750" y="3735775"/>
            <a:ext cx="247200" cy="2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87825" y="3735775"/>
            <a:ext cx="247200" cy="2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2000" y="2994495"/>
            <a:ext cx="244371" cy="2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4400" y="3694975"/>
            <a:ext cx="247200" cy="2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7975" y="2377950"/>
            <a:ext cx="247200" cy="2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91325" y="4171950"/>
            <a:ext cx="247200" cy="2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60100" y="1546088"/>
            <a:ext cx="738900" cy="7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5" name="Google Shape;745;p51"/>
          <p:cNvCxnSpPr>
            <a:stCxn id="746" idx="2"/>
            <a:endCxn id="747" idx="0"/>
          </p:cNvCxnSpPr>
          <p:nvPr/>
        </p:nvCxnSpPr>
        <p:spPr>
          <a:xfrm>
            <a:off x="5452867" y="2829525"/>
            <a:ext cx="0" cy="157860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8" name="Google Shape;748;p51"/>
          <p:cNvCxnSpPr>
            <a:stCxn id="749" idx="0"/>
            <a:endCxn id="750" idx="2"/>
          </p:cNvCxnSpPr>
          <p:nvPr/>
        </p:nvCxnSpPr>
        <p:spPr>
          <a:xfrm rot="10800000" flipH="1">
            <a:off x="3457557" y="1341300"/>
            <a:ext cx="10800" cy="148530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1" name="Google Shape;751;p51"/>
          <p:cNvCxnSpPr>
            <a:stCxn id="752" idx="2"/>
            <a:endCxn id="753" idx="0"/>
          </p:cNvCxnSpPr>
          <p:nvPr/>
        </p:nvCxnSpPr>
        <p:spPr>
          <a:xfrm>
            <a:off x="1484089" y="2829525"/>
            <a:ext cx="0" cy="139770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4" name="Google Shape;754;p51"/>
          <p:cNvSpPr/>
          <p:nvPr/>
        </p:nvSpPr>
        <p:spPr>
          <a:xfrm>
            <a:off x="2550313" y="2391750"/>
            <a:ext cx="1836300" cy="360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51"/>
          <p:cNvSpPr txBox="1"/>
          <p:nvPr/>
        </p:nvSpPr>
        <p:spPr>
          <a:xfrm>
            <a:off x="2528563" y="2417850"/>
            <a:ext cx="187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Channel Mix Simulation</a:t>
            </a:r>
            <a:endParaRPr sz="800"/>
          </a:p>
        </p:txBody>
      </p:sp>
      <p:sp>
        <p:nvSpPr>
          <p:cNvPr id="756" name="Google Shape;756;p51"/>
          <p:cNvSpPr/>
          <p:nvPr/>
        </p:nvSpPr>
        <p:spPr>
          <a:xfrm>
            <a:off x="565900" y="3046725"/>
            <a:ext cx="1836300" cy="360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51"/>
          <p:cNvSpPr txBox="1"/>
          <p:nvPr/>
        </p:nvSpPr>
        <p:spPr>
          <a:xfrm>
            <a:off x="544150" y="3072825"/>
            <a:ext cx="187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ANOVA Test for Segment Profitability</a:t>
            </a:r>
            <a:endParaRPr sz="800"/>
          </a:p>
        </p:txBody>
      </p:sp>
      <p:sp>
        <p:nvSpPr>
          <p:cNvPr id="758" name="Google Shape;758;p51"/>
          <p:cNvSpPr/>
          <p:nvPr/>
        </p:nvSpPr>
        <p:spPr>
          <a:xfrm>
            <a:off x="2380550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9" name="Google Shape;759;p51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0" name="Google Shape;760;p51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1" name="Google Shape;761;p51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2" name="Google Shape;762;p51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3" name="Google Shape;763;p51"/>
          <p:cNvSpPr/>
          <p:nvPr/>
        </p:nvSpPr>
        <p:spPr>
          <a:xfrm>
            <a:off x="2380562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4" name="Google Shape;764;p51"/>
          <p:cNvSpPr/>
          <p:nvPr/>
        </p:nvSpPr>
        <p:spPr>
          <a:xfrm>
            <a:off x="912225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65" name="Google Shape;765;p51"/>
          <p:cNvSpPr txBox="1">
            <a:spLocks noGrp="1"/>
          </p:cNvSpPr>
          <p:nvPr>
            <p:ph type="subTitle" idx="3"/>
          </p:nvPr>
        </p:nvSpPr>
        <p:spPr>
          <a:xfrm>
            <a:off x="1315225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 b="1">
                <a:latin typeface="Neuton"/>
                <a:ea typeface="Neuton"/>
                <a:cs typeface="Neuton"/>
                <a:sym typeface="Neuton"/>
              </a:rPr>
              <a:t>Analysis</a:t>
            </a:r>
            <a:endParaRPr sz="1100" b="1">
              <a:latin typeface="Neuton"/>
              <a:ea typeface="Neuton"/>
              <a:cs typeface="Neuton"/>
              <a:sym typeface="Neuton"/>
            </a:endParaRPr>
          </a:p>
        </p:txBody>
      </p:sp>
      <p:sp>
        <p:nvSpPr>
          <p:cNvPr id="766" name="Google Shape;766;p51"/>
          <p:cNvSpPr txBox="1">
            <a:spLocks noGrp="1"/>
          </p:cNvSpPr>
          <p:nvPr>
            <p:ph type="subTitle" idx="3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 b="0">
                <a:latin typeface="Neuton ExtraLight"/>
                <a:ea typeface="Neuton ExtraLight"/>
                <a:cs typeface="Neuton ExtraLight"/>
                <a:sym typeface="Neuton ExtraLight"/>
              </a:rPr>
              <a:t>Findings</a:t>
            </a:r>
            <a:endParaRPr sz="1100" b="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767" name="Google Shape;767;p51"/>
          <p:cNvSpPr txBox="1">
            <a:spLocks noGrp="1"/>
          </p:cNvSpPr>
          <p:nvPr>
            <p:ph type="subTitle" idx="3"/>
          </p:nvPr>
        </p:nvSpPr>
        <p:spPr>
          <a:xfrm>
            <a:off x="4251863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>
                <a:latin typeface="Neuton ExtraLight"/>
                <a:ea typeface="Neuton ExtraLight"/>
                <a:cs typeface="Neuton ExtraLight"/>
                <a:sym typeface="Neuton ExtraLight"/>
              </a:rPr>
              <a:t>Recommendations</a:t>
            </a:r>
            <a:endParaRPr sz="1100" b="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768" name="Google Shape;768;p51"/>
          <p:cNvSpPr txBox="1"/>
          <p:nvPr/>
        </p:nvSpPr>
        <p:spPr>
          <a:xfrm>
            <a:off x="4517570" y="936825"/>
            <a:ext cx="1879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10101"/>
                </a:solidFill>
                <a:latin typeface="Bebas Neue"/>
                <a:ea typeface="Bebas Neue"/>
                <a:cs typeface="Bebas Neue"/>
                <a:sym typeface="Bebas Neue"/>
              </a:rPr>
              <a:t>Analysis SUite 3</a:t>
            </a:r>
            <a:endParaRPr sz="900">
              <a:solidFill>
                <a:srgbClr val="01010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69" name="Google Shape;769;p51"/>
          <p:cNvSpPr txBox="1"/>
          <p:nvPr/>
        </p:nvSpPr>
        <p:spPr>
          <a:xfrm>
            <a:off x="2563645" y="2826600"/>
            <a:ext cx="1879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10101"/>
                </a:solidFill>
                <a:latin typeface="Bebas Neue"/>
                <a:ea typeface="Bebas Neue"/>
                <a:cs typeface="Bebas Neue"/>
                <a:sym typeface="Bebas Neue"/>
              </a:rPr>
              <a:t>Analysis SUitE 2</a:t>
            </a:r>
            <a:endParaRPr sz="900">
              <a:solidFill>
                <a:srgbClr val="01010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70" name="Google Shape;770;p51"/>
          <p:cNvSpPr txBox="1"/>
          <p:nvPr/>
        </p:nvSpPr>
        <p:spPr>
          <a:xfrm>
            <a:off x="544145" y="936825"/>
            <a:ext cx="1879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10101"/>
                </a:solidFill>
                <a:latin typeface="Bebas Neue"/>
                <a:ea typeface="Bebas Neue"/>
                <a:cs typeface="Bebas Neue"/>
                <a:sym typeface="Bebas Neue"/>
              </a:rPr>
              <a:t>Analysis SUite 1</a:t>
            </a:r>
            <a:endParaRPr sz="900">
              <a:solidFill>
                <a:srgbClr val="01010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771" name="Google Shape;771;p51"/>
          <p:cNvCxnSpPr>
            <a:stCxn id="752" idx="2"/>
            <a:endCxn id="772" idx="1"/>
          </p:cNvCxnSpPr>
          <p:nvPr/>
        </p:nvCxnSpPr>
        <p:spPr>
          <a:xfrm rot="-5400000" flipH="1">
            <a:off x="1533139" y="2780475"/>
            <a:ext cx="946500" cy="1044600"/>
          </a:xfrm>
          <a:prstGeom prst="curvedConnector2">
            <a:avLst/>
          </a:prstGeom>
          <a:noFill/>
          <a:ln w="9525" cap="flat" cmpd="sng">
            <a:solidFill>
              <a:srgbClr val="76A5A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773" name="Google Shape;773;p51"/>
          <p:cNvCxnSpPr>
            <a:stCxn id="769" idx="0"/>
            <a:endCxn id="746" idx="1"/>
          </p:cNvCxnSpPr>
          <p:nvPr/>
        </p:nvCxnSpPr>
        <p:spPr>
          <a:xfrm rot="-5400000">
            <a:off x="3536545" y="1850100"/>
            <a:ext cx="943500" cy="1009500"/>
          </a:xfrm>
          <a:prstGeom prst="curvedConnector2">
            <a:avLst/>
          </a:prstGeom>
          <a:noFill/>
          <a:ln w="9525" cap="flat" cmpd="sng">
            <a:solidFill>
              <a:srgbClr val="76A5A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72" name="Google Shape;772;p51"/>
          <p:cNvSpPr txBox="1"/>
          <p:nvPr/>
        </p:nvSpPr>
        <p:spPr>
          <a:xfrm>
            <a:off x="2528542" y="2829525"/>
            <a:ext cx="1879871" cy="1892700"/>
          </a:xfrm>
          <a:prstGeom prst="rect">
            <a:avLst/>
          </a:prstGeom>
          <a:solidFill>
            <a:srgbClr val="F4CDCC"/>
          </a:solidFill>
          <a:ln>
            <a:noFill/>
          </a:ln>
        </p:spPr>
        <p:txBody>
          <a:bodyPr spcFirstLastPara="1" wrap="square" lIns="73150" tIns="73150" rIns="73150" bIns="731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IZ UDPMincho"/>
                <a:ea typeface="BIZ UDPMincho"/>
                <a:cs typeface="BIZ UDPMincho"/>
                <a:sym typeface="BIZ UDPMincho"/>
              </a:rPr>
              <a:t>Diagnose Contractor Network Fragility and Revenue Concentration</a:t>
            </a:r>
            <a:endParaRPr sz="1200">
              <a:solidFill>
                <a:schemeClr val="dk1"/>
              </a:solidFill>
              <a:latin typeface="BIZ UDPMincho"/>
              <a:ea typeface="BIZ UDPMincho"/>
              <a:cs typeface="BIZ UDPMincho"/>
              <a:sym typeface="BIZ UDPMinch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IZ UDPMincho"/>
                <a:ea typeface="BIZ UDPMincho"/>
                <a:cs typeface="BIZ UDPMincho"/>
                <a:sym typeface="BIZ UDPMincho"/>
              </a:rPr>
              <a:t>Risk within Top Performing Contractors (A-List)</a:t>
            </a:r>
            <a:endParaRPr sz="1200">
              <a:solidFill>
                <a:schemeClr val="dk1"/>
              </a:solidFill>
              <a:latin typeface="BIZ UDPMincho"/>
              <a:ea typeface="BIZ UDPMincho"/>
              <a:cs typeface="BIZ UDPMincho"/>
              <a:sym typeface="BIZ UDPMinch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BIZ UDPMincho"/>
              <a:ea typeface="BIZ UDPMincho"/>
              <a:cs typeface="BIZ UDPMincho"/>
              <a:sym typeface="BIZ UDPMincho"/>
            </a:endParaRPr>
          </a:p>
        </p:txBody>
      </p:sp>
      <p:sp>
        <p:nvSpPr>
          <p:cNvPr id="746" name="Google Shape;746;p51"/>
          <p:cNvSpPr txBox="1"/>
          <p:nvPr/>
        </p:nvSpPr>
        <p:spPr>
          <a:xfrm>
            <a:off x="4512931" y="936825"/>
            <a:ext cx="1879871" cy="1892700"/>
          </a:xfrm>
          <a:prstGeom prst="rect">
            <a:avLst/>
          </a:prstGeom>
          <a:solidFill>
            <a:srgbClr val="85B98D"/>
          </a:solidFill>
          <a:ln>
            <a:noFill/>
          </a:ln>
        </p:spPr>
        <p:txBody>
          <a:bodyPr spcFirstLastPara="1" wrap="square" lIns="73150" tIns="73150" rIns="73150" bIns="731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IZ UDPMincho"/>
                <a:ea typeface="BIZ UDPMincho"/>
                <a:cs typeface="BIZ UDPMincho"/>
                <a:sym typeface="BIZ UDPMincho"/>
              </a:rPr>
              <a:t>Diagnose Seasonal Demand Volatility by Designing Segment-Level</a:t>
            </a:r>
            <a:endParaRPr sz="1200">
              <a:solidFill>
                <a:schemeClr val="dk1"/>
              </a:solidFill>
              <a:latin typeface="BIZ UDPMincho"/>
              <a:ea typeface="BIZ UDPMincho"/>
              <a:cs typeface="BIZ UDPMincho"/>
              <a:sym typeface="BIZ UDPMinch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IZ UDPMincho"/>
                <a:ea typeface="BIZ UDPMincho"/>
                <a:cs typeface="BIZ UDPMincho"/>
                <a:sym typeface="BIZ UDPMincho"/>
              </a:rPr>
              <a:t>Demand Stability Scorecard</a:t>
            </a:r>
            <a:endParaRPr sz="1200">
              <a:solidFill>
                <a:schemeClr val="dk1"/>
              </a:solidFill>
              <a:latin typeface="BIZ UDPMincho"/>
              <a:ea typeface="BIZ UDPMincho"/>
              <a:cs typeface="BIZ UDPMincho"/>
              <a:sym typeface="BIZ UDPMinch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BIZ UDPMincho"/>
              <a:ea typeface="BIZ UDPMincho"/>
              <a:cs typeface="BIZ UDPMincho"/>
              <a:sym typeface="BIZ UDPMincho"/>
            </a:endParaRPr>
          </a:p>
        </p:txBody>
      </p:sp>
      <p:sp>
        <p:nvSpPr>
          <p:cNvPr id="774" name="Google Shape;774;p51"/>
          <p:cNvSpPr txBox="1"/>
          <p:nvPr/>
        </p:nvSpPr>
        <p:spPr>
          <a:xfrm>
            <a:off x="6497320" y="2829525"/>
            <a:ext cx="1879871" cy="1892700"/>
          </a:xfrm>
          <a:prstGeom prst="rect">
            <a:avLst/>
          </a:prstGeom>
          <a:solidFill>
            <a:srgbClr val="A3C4C9"/>
          </a:solidFill>
          <a:ln>
            <a:noFill/>
          </a:ln>
        </p:spPr>
        <p:txBody>
          <a:bodyPr spcFirstLastPara="1" wrap="square" lIns="73150" tIns="73150" rIns="73150" bIns="7315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IZ UDPMincho"/>
                <a:ea typeface="BIZ UDPMincho"/>
                <a:cs typeface="BIZ UDPMincho"/>
                <a:sym typeface="BIZ UDPMincho"/>
              </a:rPr>
              <a:t>Lightweight Credit Risk Assessment via Payment Behavior and</a:t>
            </a:r>
            <a:endParaRPr sz="1200">
              <a:solidFill>
                <a:schemeClr val="dk1"/>
              </a:solidFill>
              <a:latin typeface="BIZ UDPMincho"/>
              <a:ea typeface="BIZ UDPMincho"/>
              <a:cs typeface="BIZ UDPMincho"/>
              <a:sym typeface="BIZ UDPMinch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IZ UDPMincho"/>
                <a:ea typeface="BIZ UDPMincho"/>
                <a:cs typeface="BIZ UDPMincho"/>
                <a:sym typeface="BIZ UDPMincho"/>
              </a:rPr>
              <a:t>Cashflow Stress Indicators</a:t>
            </a:r>
            <a:endParaRPr sz="1200">
              <a:solidFill>
                <a:schemeClr val="dk1"/>
              </a:solidFill>
              <a:latin typeface="BIZ UDPMincho"/>
              <a:ea typeface="BIZ UDPMincho"/>
              <a:cs typeface="BIZ UDPMincho"/>
              <a:sym typeface="BIZ UDPMinch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BIZ UDPMincho"/>
              <a:ea typeface="BIZ UDPMincho"/>
              <a:cs typeface="BIZ UDPMincho"/>
              <a:sym typeface="BIZ UDPMincho"/>
            </a:endParaRPr>
          </a:p>
        </p:txBody>
      </p:sp>
      <p:sp>
        <p:nvSpPr>
          <p:cNvPr id="752" name="Google Shape;752;p51"/>
          <p:cNvSpPr txBox="1"/>
          <p:nvPr/>
        </p:nvSpPr>
        <p:spPr>
          <a:xfrm>
            <a:off x="544154" y="936825"/>
            <a:ext cx="1879871" cy="1892700"/>
          </a:xfrm>
          <a:prstGeom prst="rect">
            <a:avLst/>
          </a:prstGeom>
          <a:solidFill>
            <a:srgbClr val="CE7B5D"/>
          </a:solidFill>
          <a:ln>
            <a:noFill/>
          </a:ln>
        </p:spPr>
        <p:txBody>
          <a:bodyPr spcFirstLastPara="1" wrap="square" lIns="73150" tIns="73150" rIns="73150" bIns="7315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10101"/>
                </a:solidFill>
                <a:latin typeface="BIZ UDPMincho"/>
                <a:ea typeface="BIZ UDPMincho"/>
                <a:cs typeface="BIZ UDPMincho"/>
                <a:sym typeface="BIZ UDPMincho"/>
              </a:rPr>
              <a:t>Diagnose Channel Profitability and Structural Risk </a:t>
            </a:r>
            <a:r>
              <a:rPr lang="en" sz="1200">
                <a:solidFill>
                  <a:schemeClr val="dk1"/>
                </a:solidFill>
                <a:latin typeface="BIZ UDPMincho"/>
                <a:ea typeface="BIZ UDPMincho"/>
                <a:cs typeface="BIZ UDPMincho"/>
                <a:sym typeface="BIZ UDPMincho"/>
              </a:rPr>
              <a:t>in the</a:t>
            </a:r>
            <a:endParaRPr sz="1200">
              <a:solidFill>
                <a:schemeClr val="dk1"/>
              </a:solidFill>
              <a:latin typeface="BIZ UDPMincho"/>
              <a:ea typeface="BIZ UDPMincho"/>
              <a:cs typeface="BIZ UDPMincho"/>
              <a:sym typeface="BIZ UDPMinch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IZ UDPMincho"/>
                <a:ea typeface="BIZ UDPMincho"/>
                <a:cs typeface="BIZ UDPMincho"/>
                <a:sym typeface="BIZ UDPMincho"/>
              </a:rPr>
              <a:t>Contractor-Influenced End-Customer Sales</a:t>
            </a:r>
            <a:endParaRPr sz="1200">
              <a:solidFill>
                <a:schemeClr val="dk1"/>
              </a:solidFill>
              <a:latin typeface="BIZ UDPMincho"/>
              <a:ea typeface="BIZ UDPMincho"/>
              <a:cs typeface="BIZ UDPMincho"/>
              <a:sym typeface="BIZ UDPMinch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>
              <a:solidFill>
                <a:srgbClr val="010101"/>
              </a:solidFill>
              <a:latin typeface="BIZ UDPMincho"/>
              <a:ea typeface="BIZ UDPMincho"/>
              <a:cs typeface="BIZ UDPMincho"/>
              <a:sym typeface="BIZ UDPMincho"/>
            </a:endParaRPr>
          </a:p>
        </p:txBody>
      </p:sp>
      <p:sp>
        <p:nvSpPr>
          <p:cNvPr id="775" name="Google Shape;775;p51"/>
          <p:cNvSpPr txBox="1"/>
          <p:nvPr/>
        </p:nvSpPr>
        <p:spPr>
          <a:xfrm>
            <a:off x="6497320" y="2829525"/>
            <a:ext cx="1879871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10101"/>
                </a:solidFill>
                <a:latin typeface="Bebas Neue"/>
                <a:ea typeface="Bebas Neue"/>
                <a:cs typeface="Bebas Neue"/>
                <a:sym typeface="Bebas Neue"/>
              </a:rPr>
              <a:t>Analysis SUitE 4</a:t>
            </a:r>
            <a:endParaRPr sz="900">
              <a:solidFill>
                <a:srgbClr val="01010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cxnSp>
        <p:nvCxnSpPr>
          <p:cNvPr id="776" name="Google Shape;776;p51"/>
          <p:cNvCxnSpPr>
            <a:stCxn id="746" idx="3"/>
            <a:endCxn id="775" idx="0"/>
          </p:cNvCxnSpPr>
          <p:nvPr/>
        </p:nvCxnSpPr>
        <p:spPr>
          <a:xfrm>
            <a:off x="6392802" y="1883175"/>
            <a:ext cx="1044600" cy="946500"/>
          </a:xfrm>
          <a:prstGeom prst="curvedConnector2">
            <a:avLst/>
          </a:prstGeom>
          <a:noFill/>
          <a:ln w="9525" cap="flat" cmpd="sng">
            <a:solidFill>
              <a:srgbClr val="76A5AF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77" name="Google Shape;777;p51"/>
          <p:cNvSpPr/>
          <p:nvPr/>
        </p:nvSpPr>
        <p:spPr>
          <a:xfrm>
            <a:off x="565925" y="3623913"/>
            <a:ext cx="1836300" cy="360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51"/>
          <p:cNvSpPr txBox="1"/>
          <p:nvPr/>
        </p:nvSpPr>
        <p:spPr>
          <a:xfrm>
            <a:off x="544175" y="3650013"/>
            <a:ext cx="187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Monte Carlo simulation</a:t>
            </a:r>
            <a:endParaRPr sz="800"/>
          </a:p>
        </p:txBody>
      </p:sp>
      <p:sp>
        <p:nvSpPr>
          <p:cNvPr id="779" name="Google Shape;779;p51"/>
          <p:cNvSpPr/>
          <p:nvPr/>
        </p:nvSpPr>
        <p:spPr>
          <a:xfrm>
            <a:off x="565938" y="4201125"/>
            <a:ext cx="1836300" cy="360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1"/>
          <p:cNvSpPr txBox="1"/>
          <p:nvPr/>
        </p:nvSpPr>
        <p:spPr>
          <a:xfrm>
            <a:off x="544188" y="4227225"/>
            <a:ext cx="187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ANOVA Test Re-Run</a:t>
            </a:r>
            <a:endParaRPr sz="800"/>
          </a:p>
        </p:txBody>
      </p:sp>
      <p:sp>
        <p:nvSpPr>
          <p:cNvPr id="780" name="Google Shape;780;p51"/>
          <p:cNvSpPr/>
          <p:nvPr/>
        </p:nvSpPr>
        <p:spPr>
          <a:xfrm>
            <a:off x="2550313" y="1956900"/>
            <a:ext cx="1836300" cy="360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1"/>
          <p:cNvSpPr txBox="1"/>
          <p:nvPr/>
        </p:nvSpPr>
        <p:spPr>
          <a:xfrm>
            <a:off x="2528563" y="1983000"/>
            <a:ext cx="187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Attrition Risk Model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782" name="Google Shape;782;p51"/>
          <p:cNvSpPr/>
          <p:nvPr/>
        </p:nvSpPr>
        <p:spPr>
          <a:xfrm>
            <a:off x="2550313" y="1479200"/>
            <a:ext cx="1836300" cy="360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51"/>
          <p:cNvSpPr txBox="1"/>
          <p:nvPr/>
        </p:nvSpPr>
        <p:spPr>
          <a:xfrm>
            <a:off x="2528563" y="1505300"/>
            <a:ext cx="187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Contribution Analysis &amp; Lorenz Curve</a:t>
            </a:r>
            <a:endParaRPr sz="800"/>
          </a:p>
        </p:txBody>
      </p:sp>
      <p:sp>
        <p:nvSpPr>
          <p:cNvPr id="784" name="Google Shape;784;p51"/>
          <p:cNvSpPr/>
          <p:nvPr/>
        </p:nvSpPr>
        <p:spPr>
          <a:xfrm>
            <a:off x="2550275" y="1007450"/>
            <a:ext cx="1836300" cy="360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51"/>
          <p:cNvSpPr txBox="1"/>
          <p:nvPr/>
        </p:nvSpPr>
        <p:spPr>
          <a:xfrm>
            <a:off x="2528525" y="1033550"/>
            <a:ext cx="187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Stress Test the Fragility</a:t>
            </a:r>
            <a:endParaRPr sz="800"/>
          </a:p>
        </p:txBody>
      </p:sp>
      <p:sp>
        <p:nvSpPr>
          <p:cNvPr id="785" name="Google Shape;785;p51"/>
          <p:cNvSpPr/>
          <p:nvPr/>
        </p:nvSpPr>
        <p:spPr>
          <a:xfrm>
            <a:off x="4534737" y="2903850"/>
            <a:ext cx="1836300" cy="302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51"/>
          <p:cNvSpPr txBox="1"/>
          <p:nvPr/>
        </p:nvSpPr>
        <p:spPr>
          <a:xfrm>
            <a:off x="4512988" y="2925788"/>
            <a:ext cx="187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Volatility Assessment (CV &amp; MAD)</a:t>
            </a:r>
            <a:endParaRPr sz="800"/>
          </a:p>
        </p:txBody>
      </p:sp>
      <p:sp>
        <p:nvSpPr>
          <p:cNvPr id="787" name="Google Shape;787;p51"/>
          <p:cNvSpPr/>
          <p:nvPr/>
        </p:nvSpPr>
        <p:spPr>
          <a:xfrm>
            <a:off x="4534725" y="3268912"/>
            <a:ext cx="1836300" cy="302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51"/>
          <p:cNvSpPr txBox="1"/>
          <p:nvPr/>
        </p:nvSpPr>
        <p:spPr>
          <a:xfrm>
            <a:off x="4512975" y="3290850"/>
            <a:ext cx="187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Time Series Pattern Detection (ACF)</a:t>
            </a:r>
            <a:endParaRPr sz="800"/>
          </a:p>
        </p:txBody>
      </p:sp>
      <p:sp>
        <p:nvSpPr>
          <p:cNvPr id="789" name="Google Shape;789;p51"/>
          <p:cNvSpPr/>
          <p:nvPr/>
        </p:nvSpPr>
        <p:spPr>
          <a:xfrm>
            <a:off x="4534725" y="3633963"/>
            <a:ext cx="1836300" cy="302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51"/>
          <p:cNvSpPr txBox="1"/>
          <p:nvPr/>
        </p:nvSpPr>
        <p:spPr>
          <a:xfrm>
            <a:off x="4512975" y="3655901"/>
            <a:ext cx="187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Demand Stability Scorecard</a:t>
            </a:r>
            <a:endParaRPr sz="800"/>
          </a:p>
        </p:txBody>
      </p:sp>
      <p:sp>
        <p:nvSpPr>
          <p:cNvPr id="791" name="Google Shape;791;p51"/>
          <p:cNvSpPr/>
          <p:nvPr/>
        </p:nvSpPr>
        <p:spPr>
          <a:xfrm>
            <a:off x="4534725" y="3999035"/>
            <a:ext cx="1836300" cy="302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51"/>
          <p:cNvSpPr txBox="1"/>
          <p:nvPr/>
        </p:nvSpPr>
        <p:spPr>
          <a:xfrm>
            <a:off x="4512975" y="4020973"/>
            <a:ext cx="187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Responsive Inventory Optimization</a:t>
            </a:r>
            <a:endParaRPr sz="800"/>
          </a:p>
        </p:txBody>
      </p:sp>
      <p:sp>
        <p:nvSpPr>
          <p:cNvPr id="793" name="Google Shape;793;p51"/>
          <p:cNvSpPr/>
          <p:nvPr/>
        </p:nvSpPr>
        <p:spPr>
          <a:xfrm>
            <a:off x="6519100" y="1556935"/>
            <a:ext cx="1836300" cy="652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1"/>
          <p:cNvSpPr txBox="1"/>
          <p:nvPr/>
        </p:nvSpPr>
        <p:spPr>
          <a:xfrm>
            <a:off x="6497350" y="1636865"/>
            <a:ext cx="1879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Sales Breakdown by Payment Method and Buyer Role</a:t>
            </a:r>
            <a:endParaRPr sz="1000"/>
          </a:p>
        </p:txBody>
      </p:sp>
      <p:sp>
        <p:nvSpPr>
          <p:cNvPr id="795" name="Google Shape;795;p51"/>
          <p:cNvSpPr txBox="1"/>
          <p:nvPr/>
        </p:nvSpPr>
        <p:spPr>
          <a:xfrm>
            <a:off x="4512820" y="936825"/>
            <a:ext cx="1879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10101"/>
                </a:solidFill>
                <a:latin typeface="Bebas Neue"/>
                <a:ea typeface="Bebas Neue"/>
                <a:cs typeface="Bebas Neue"/>
                <a:sym typeface="Bebas Neue"/>
              </a:rPr>
              <a:t>Analysis SUitE 3</a:t>
            </a:r>
            <a:endParaRPr sz="900">
              <a:solidFill>
                <a:srgbClr val="01010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49" name="Google Shape;749;p51"/>
          <p:cNvSpPr txBox="1"/>
          <p:nvPr/>
        </p:nvSpPr>
        <p:spPr>
          <a:xfrm>
            <a:off x="2517657" y="2826600"/>
            <a:ext cx="1879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10101"/>
                </a:solidFill>
                <a:latin typeface="Bebas Neue"/>
                <a:ea typeface="Bebas Neue"/>
                <a:cs typeface="Bebas Neue"/>
                <a:sym typeface="Bebas Neue"/>
              </a:rPr>
              <a:t>Analysis SUitE 2</a:t>
            </a:r>
            <a:endParaRPr sz="900">
              <a:solidFill>
                <a:srgbClr val="01010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96" name="Google Shape;796;p51"/>
          <p:cNvSpPr txBox="1"/>
          <p:nvPr/>
        </p:nvSpPr>
        <p:spPr>
          <a:xfrm>
            <a:off x="544220" y="936825"/>
            <a:ext cx="1879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10101"/>
                </a:solidFill>
                <a:latin typeface="Bebas Neue"/>
                <a:ea typeface="Bebas Neue"/>
                <a:cs typeface="Bebas Neue"/>
                <a:sym typeface="Bebas Neue"/>
              </a:rPr>
              <a:t>Analysis SUitE 1</a:t>
            </a:r>
            <a:endParaRPr sz="900">
              <a:solidFill>
                <a:srgbClr val="010101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97" name="Google Shape;797;p51"/>
          <p:cNvSpPr/>
          <p:nvPr/>
        </p:nvSpPr>
        <p:spPr>
          <a:xfrm>
            <a:off x="4534725" y="4386060"/>
            <a:ext cx="1836300" cy="302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51"/>
          <p:cNvSpPr txBox="1"/>
          <p:nvPr/>
        </p:nvSpPr>
        <p:spPr>
          <a:xfrm>
            <a:off x="4512975" y="4407998"/>
            <a:ext cx="187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Seasonality-Aware EOQ Modeling</a:t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798" name="Google Shape;798;p51"/>
          <p:cNvCxnSpPr>
            <a:stCxn id="775" idx="0"/>
            <a:endCxn id="793" idx="2"/>
          </p:cNvCxnSpPr>
          <p:nvPr/>
        </p:nvCxnSpPr>
        <p:spPr>
          <a:xfrm rot="10800000">
            <a:off x="7437255" y="2209425"/>
            <a:ext cx="0" cy="620100"/>
          </a:xfrm>
          <a:prstGeom prst="straightConnector1">
            <a:avLst/>
          </a:prstGeom>
          <a:noFill/>
          <a:ln w="19050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2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4" name="Google Shape;804;p52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5" name="Google Shape;805;p52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>
                <a:latin typeface="Neuton ExtraLight"/>
                <a:ea typeface="Neuton ExtraLight"/>
                <a:cs typeface="Neuton ExtraLight"/>
                <a:sym typeface="Neuton ExtraLight"/>
              </a:rPr>
              <a:t>Recommendations</a:t>
            </a:r>
            <a:endParaRPr sz="110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806" name="Google Shape;806;p52"/>
          <p:cNvSpPr txBox="1">
            <a:spLocks noGrp="1"/>
          </p:cNvSpPr>
          <p:nvPr>
            <p:ph type="subTitle" idx="3"/>
          </p:nvPr>
        </p:nvSpPr>
        <p:spPr>
          <a:xfrm>
            <a:off x="1315213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 b="0">
                <a:latin typeface="Neuton ExtraLight"/>
                <a:ea typeface="Neuton ExtraLight"/>
                <a:cs typeface="Neuton ExtraLight"/>
                <a:sym typeface="Neuton ExtraLight"/>
              </a:rPr>
              <a:t>Findings</a:t>
            </a:r>
            <a:endParaRPr sz="1100" b="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pic>
        <p:nvPicPr>
          <p:cNvPr id="807" name="Google Shape;80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1625" y="986500"/>
            <a:ext cx="447675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775" y="2181338"/>
            <a:ext cx="2486025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0425" y="2871438"/>
            <a:ext cx="2314575" cy="6096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dot"/>
            <a:miter lim="8000"/>
            <a:headEnd type="none" w="sm" len="sm"/>
            <a:tailEnd type="none" w="sm" len="sm"/>
          </a:ln>
        </p:spPr>
      </p:pic>
      <p:pic>
        <p:nvPicPr>
          <p:cNvPr id="810" name="Google Shape;810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0425" y="3637863"/>
            <a:ext cx="2314575" cy="27622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dot"/>
            <a:miter lim="8000"/>
            <a:headEnd type="none" w="sm" len="sm"/>
            <a:tailEnd type="none" w="sm" len="sm"/>
          </a:ln>
        </p:spPr>
      </p:pic>
      <p:sp>
        <p:nvSpPr>
          <p:cNvPr id="811" name="Google Shape;811;p52"/>
          <p:cNvSpPr txBox="1"/>
          <p:nvPr/>
        </p:nvSpPr>
        <p:spPr>
          <a:xfrm>
            <a:off x="439975" y="3921675"/>
            <a:ext cx="34479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Moving from 80% to 0% contractor-influenced ECs causes a drop of nearly ₹67K per sales cycle </a:t>
            </a:r>
            <a:endParaRPr sz="1200">
              <a:solidFill>
                <a:schemeClr val="dk1"/>
              </a:solidFill>
              <a:latin typeface="Heebo ExtraLight"/>
              <a:ea typeface="Heebo ExtraLight"/>
              <a:cs typeface="Heebo ExtraLight"/>
              <a:sym typeface="Heebo Extra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(₹16.64L → ₹15.97L). That’s ~4% loss in top-line </a:t>
            </a:r>
            <a:endParaRPr sz="1200">
              <a:solidFill>
                <a:schemeClr val="dk1"/>
              </a:solidFill>
              <a:latin typeface="Heebo ExtraLight"/>
              <a:ea typeface="Heebo ExtraLight"/>
              <a:cs typeface="Heebo ExtraLight"/>
              <a:sym typeface="Heebo Extra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EC revenue per 100 transactions.</a:t>
            </a:r>
            <a:endParaRPr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sp>
        <p:nvSpPr>
          <p:cNvPr id="812" name="Google Shape;812;p52"/>
          <p:cNvSpPr txBox="1"/>
          <p:nvPr/>
        </p:nvSpPr>
        <p:spPr>
          <a:xfrm>
            <a:off x="439975" y="903163"/>
            <a:ext cx="33009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ebo ExtraLight"/>
                <a:ea typeface="Heebo ExtraLight"/>
                <a:cs typeface="Heebo ExtraLight"/>
                <a:sym typeface="Heebo ExtraLight"/>
              </a:rPr>
              <a:t>Subsequent segmentation revealed that contractor-mediated sales disproportionately drove the uplift of end customer average order value (AOV)</a:t>
            </a:r>
            <a:endParaRPr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sp>
        <p:nvSpPr>
          <p:cNvPr id="813" name="Google Shape;813;p52"/>
          <p:cNvSpPr txBox="1"/>
          <p:nvPr/>
        </p:nvSpPr>
        <p:spPr>
          <a:xfrm>
            <a:off x="519775" y="3657725"/>
            <a:ext cx="3141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2: Simulated EC Revenue Distributions Across Scenarios</a:t>
            </a:r>
            <a:endParaRPr sz="900"/>
          </a:p>
        </p:txBody>
      </p:sp>
      <p:sp>
        <p:nvSpPr>
          <p:cNvPr id="814" name="Google Shape;814;p52"/>
          <p:cNvSpPr txBox="1"/>
          <p:nvPr/>
        </p:nvSpPr>
        <p:spPr>
          <a:xfrm>
            <a:off x="3931700" y="2337350"/>
            <a:ext cx="447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 [a], [b], &amp; [c]: Kernel Density Plot, Box Plot, and Violin Plot for EC Sub Segmentation Distribution Analysis</a:t>
            </a:r>
            <a:endParaRPr/>
          </a:p>
        </p:txBody>
      </p:sp>
      <p:sp>
        <p:nvSpPr>
          <p:cNvPr id="815" name="Google Shape;815;p52"/>
          <p:cNvSpPr txBox="1"/>
          <p:nvPr/>
        </p:nvSpPr>
        <p:spPr>
          <a:xfrm>
            <a:off x="3953500" y="4016075"/>
            <a:ext cx="465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 [a], [b], &amp; [c]: </a:t>
            </a:r>
            <a:r>
              <a:rPr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 Chart visualizing Contractor Attrition Risk: Revenue Loss vs Commission Overhead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Commission Overhead, and Recovery Timeline</a:t>
            </a:r>
            <a:endParaRPr/>
          </a:p>
        </p:txBody>
      </p:sp>
      <p:pic>
        <p:nvPicPr>
          <p:cNvPr id="816" name="Google Shape;816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09750" y="2823314"/>
            <a:ext cx="2314575" cy="113888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52"/>
          <p:cNvSpPr txBox="1"/>
          <p:nvPr/>
        </p:nvSpPr>
        <p:spPr>
          <a:xfrm>
            <a:off x="3953500" y="4374075"/>
            <a:ext cx="499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Rebuilding the lost transaction volume through organic end-customer acquisition would require an estimated four months.</a:t>
            </a:r>
            <a:endParaRPr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53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3" name="Google Shape;823;p53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4" name="Google Shape;824;p53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>
                <a:latin typeface="Neuton ExtraLight"/>
                <a:ea typeface="Neuton ExtraLight"/>
                <a:cs typeface="Neuton ExtraLight"/>
                <a:sym typeface="Neuton ExtraLight"/>
              </a:rPr>
              <a:t>Recommendations</a:t>
            </a:r>
            <a:endParaRPr sz="110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825" name="Google Shape;825;p53"/>
          <p:cNvSpPr txBox="1">
            <a:spLocks noGrp="1"/>
          </p:cNvSpPr>
          <p:nvPr>
            <p:ph type="subTitle" idx="3"/>
          </p:nvPr>
        </p:nvSpPr>
        <p:spPr>
          <a:xfrm>
            <a:off x="1315213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 b="0">
                <a:latin typeface="Neuton ExtraLight"/>
                <a:ea typeface="Neuton ExtraLight"/>
                <a:cs typeface="Neuton ExtraLight"/>
                <a:sym typeface="Neuton ExtraLight"/>
              </a:rPr>
              <a:t>Findings</a:t>
            </a:r>
            <a:endParaRPr sz="1100" b="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pic>
        <p:nvPicPr>
          <p:cNvPr id="826" name="Google Shape;826;p5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25" y="892550"/>
            <a:ext cx="2362200" cy="1476375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827" name="Google Shape;827;p53"/>
          <p:cNvSpPr txBox="1"/>
          <p:nvPr/>
        </p:nvSpPr>
        <p:spPr>
          <a:xfrm>
            <a:off x="477125" y="2339100"/>
            <a:ext cx="24141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3.2.1 [a]:</a:t>
            </a:r>
            <a:r>
              <a:rPr lang="en" sz="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Visualizing Sales Inequality in A-List using Lorenz Curve</a:t>
            </a:r>
            <a:endParaRPr/>
          </a:p>
        </p:txBody>
      </p:sp>
      <p:sp>
        <p:nvSpPr>
          <p:cNvPr id="828" name="Google Shape;828;p53"/>
          <p:cNvSpPr txBox="1"/>
          <p:nvPr/>
        </p:nvSpPr>
        <p:spPr>
          <a:xfrm>
            <a:off x="584625" y="4635800"/>
            <a:ext cx="78030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3.2.1 [b] &amp; [c]:</a:t>
            </a:r>
            <a:r>
              <a:rPr lang="en" sz="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Visualizing Sales Inequality in A-List using Lorenz Curve Sensitivity Analysis of Contractor Channel: Simulated Revenue Impact Under Partial Attrition Scenarios (A-List and Combined estimate of A, B, and C list)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9" name="Google Shape;829;p53"/>
          <p:cNvSpPr txBox="1"/>
          <p:nvPr/>
        </p:nvSpPr>
        <p:spPr>
          <a:xfrm>
            <a:off x="2986075" y="810475"/>
            <a:ext cx="30000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Despite having a seemingly high CDI (0.978), the top 5–20 contractors are disproportionately contributing to revenue, exposing a structural fragility beneath the surface of a “diverse” A-list. This was evident in the Lorenz Curve</a:t>
            </a:r>
            <a:endParaRPr sz="1200"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grpSp>
        <p:nvGrpSpPr>
          <p:cNvPr id="830" name="Google Shape;830;p53"/>
          <p:cNvGrpSpPr/>
          <p:nvPr/>
        </p:nvGrpSpPr>
        <p:grpSpPr>
          <a:xfrm>
            <a:off x="5802066" y="1887797"/>
            <a:ext cx="2732921" cy="718544"/>
            <a:chOff x="2903550" y="565170"/>
            <a:chExt cx="3336900" cy="940872"/>
          </a:xfrm>
        </p:grpSpPr>
        <p:sp>
          <p:nvSpPr>
            <p:cNvPr id="831" name="Google Shape;831;p53"/>
            <p:cNvSpPr/>
            <p:nvPr/>
          </p:nvSpPr>
          <p:spPr>
            <a:xfrm>
              <a:off x="2903550" y="565243"/>
              <a:ext cx="1728600" cy="940800"/>
            </a:xfrm>
            <a:prstGeom prst="roundRect">
              <a:avLst>
                <a:gd name="adj" fmla="val 24041"/>
              </a:avLst>
            </a:prstGeom>
            <a:solidFill>
              <a:srgbClr val="FFF5DD"/>
            </a:solidFill>
            <a:ln>
              <a:noFill/>
            </a:ln>
          </p:spPr>
          <p:txBody>
            <a:bodyPr spcFirstLastPara="1" wrap="square" lIns="84900" tIns="84900" rIns="84900" bIns="849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latin typeface="Onest"/>
                <a:ea typeface="Onest"/>
                <a:cs typeface="Onest"/>
                <a:sym typeface="Onest"/>
              </a:endParaRPr>
            </a:p>
          </p:txBody>
        </p:sp>
        <p:sp>
          <p:nvSpPr>
            <p:cNvPr id="832" name="Google Shape;832;p53"/>
            <p:cNvSpPr/>
            <p:nvPr/>
          </p:nvSpPr>
          <p:spPr>
            <a:xfrm>
              <a:off x="2903550" y="565170"/>
              <a:ext cx="3336900" cy="940800"/>
            </a:xfrm>
            <a:prstGeom prst="roundRect">
              <a:avLst>
                <a:gd name="adj" fmla="val 50000"/>
              </a:avLst>
            </a:prstGeom>
            <a:solidFill>
              <a:srgbClr val="FFF5DD"/>
            </a:solidFill>
            <a:ln>
              <a:noFill/>
            </a:ln>
          </p:spPr>
          <p:txBody>
            <a:bodyPr spcFirstLastPara="1" wrap="square" lIns="84900" tIns="84900" rIns="84900" bIns="849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>
                <a:latin typeface="Onest"/>
                <a:ea typeface="Onest"/>
                <a:cs typeface="Onest"/>
                <a:sym typeface="Onest"/>
              </a:endParaRPr>
            </a:p>
          </p:txBody>
        </p:sp>
        <p:sp>
          <p:nvSpPr>
            <p:cNvPr id="833" name="Google Shape;833;p53"/>
            <p:cNvSpPr txBox="1"/>
            <p:nvPr/>
          </p:nvSpPr>
          <p:spPr>
            <a:xfrm>
              <a:off x="3289930" y="709248"/>
              <a:ext cx="2608800" cy="65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975" tIns="16975" rIns="16975" bIns="169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71">
                  <a:solidFill>
                    <a:srgbClr val="422C1A"/>
                  </a:solidFill>
                  <a:latin typeface="Onest Thin"/>
                  <a:ea typeface="Onest Thin"/>
                  <a:cs typeface="Onest Thin"/>
                  <a:sym typeface="Onest Thin"/>
                </a:rPr>
                <a:t>Gini = 0.329</a:t>
              </a:r>
              <a:endParaRPr sz="2971">
                <a:solidFill>
                  <a:srgbClr val="422C1A"/>
                </a:solidFill>
                <a:latin typeface="Onest Thin"/>
                <a:ea typeface="Onest Thin"/>
                <a:cs typeface="Onest Thin"/>
                <a:sym typeface="Onest Thin"/>
              </a:endParaRPr>
            </a:p>
          </p:txBody>
        </p:sp>
      </p:grpSp>
      <p:graphicFrame>
        <p:nvGraphicFramePr>
          <p:cNvPr id="834" name="Google Shape;834;p53"/>
          <p:cNvGraphicFramePr/>
          <p:nvPr/>
        </p:nvGraphicFramePr>
        <p:xfrm>
          <a:off x="584613" y="293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{6ACBF7CB-AC3C-427F-857B-167589B0C38D}</a:tableStyleId>
              </a:tblPr>
              <a:tblGrid>
                <a:gridCol w="143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4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 N Contractors Removed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Revenue Lost (₹)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of A-list Revenue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0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 5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₹32,10,865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20.30%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0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 10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₹54,33,048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34.35%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0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 20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₹85,36,505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53.98%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0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Remaining 47 Contractors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₹65,96,496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41.95%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0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(A-list)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₹1,57,24,614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100.00%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35" name="Google Shape;83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1288" y="3045725"/>
            <a:ext cx="4286250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4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41" name="Google Shape;841;p54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42" name="Google Shape;842;p54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>
                <a:latin typeface="Neuton ExtraLight"/>
                <a:ea typeface="Neuton ExtraLight"/>
                <a:cs typeface="Neuton ExtraLight"/>
                <a:sym typeface="Neuton ExtraLight"/>
              </a:rPr>
              <a:t>Recommendations</a:t>
            </a:r>
            <a:endParaRPr sz="110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843" name="Google Shape;843;p54"/>
          <p:cNvSpPr txBox="1">
            <a:spLocks noGrp="1"/>
          </p:cNvSpPr>
          <p:nvPr>
            <p:ph type="subTitle" idx="3"/>
          </p:nvPr>
        </p:nvSpPr>
        <p:spPr>
          <a:xfrm>
            <a:off x="1315213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 b="0">
                <a:latin typeface="Neuton ExtraLight"/>
                <a:ea typeface="Neuton ExtraLight"/>
                <a:cs typeface="Neuton ExtraLight"/>
                <a:sym typeface="Neuton ExtraLight"/>
              </a:rPr>
              <a:t>Findings</a:t>
            </a:r>
            <a:endParaRPr sz="1100" b="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graphicFrame>
        <p:nvGraphicFramePr>
          <p:cNvPr id="844" name="Google Shape;844;p54"/>
          <p:cNvGraphicFramePr/>
          <p:nvPr/>
        </p:nvGraphicFramePr>
        <p:xfrm>
          <a:off x="748088" y="1058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{6ACBF7CB-AC3C-427F-857B-167589B0C38D}</a:tableStyleId>
              </a:tblPr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Segment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Stability Index A</a:t>
                      </a:r>
                      <a:endParaRPr sz="9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(Inventory Focus)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Stability Index B</a:t>
                      </a:r>
                      <a:endParaRPr sz="9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(Channel Predictability)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B2B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26.52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14.68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Contractor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100.00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100.00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End Customer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16.07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16.86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45" name="Google Shape;84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125" y="787301"/>
            <a:ext cx="3409950" cy="1717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75" y="3084076"/>
            <a:ext cx="3806972" cy="147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2225" y="3084069"/>
            <a:ext cx="3799750" cy="147908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54"/>
          <p:cNvSpPr txBox="1"/>
          <p:nvPr/>
        </p:nvSpPr>
        <p:spPr>
          <a:xfrm>
            <a:off x="614725" y="4640475"/>
            <a:ext cx="7697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2.2 [a] &amp; [b]: Quantifying Financial Leakage in the Credit Recovery Process and Tracing Financial Risk through Payment Flows</a:t>
            </a:r>
            <a:endParaRPr/>
          </a:p>
        </p:txBody>
      </p:sp>
      <p:sp>
        <p:nvSpPr>
          <p:cNvPr id="849" name="Google Shape;849;p54"/>
          <p:cNvSpPr txBox="1"/>
          <p:nvPr/>
        </p:nvSpPr>
        <p:spPr>
          <a:xfrm>
            <a:off x="748025" y="2498850"/>
            <a:ext cx="3410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2.4.2.3 [d]: Composite Demand Stability Indices by Segment (Inventory vs. Channel Perspective)</a:t>
            </a:r>
            <a:endParaRPr/>
          </a:p>
        </p:txBody>
      </p:sp>
      <p:sp>
        <p:nvSpPr>
          <p:cNvPr id="850" name="Google Shape;850;p54"/>
          <p:cNvSpPr txBox="1"/>
          <p:nvPr/>
        </p:nvSpPr>
        <p:spPr>
          <a:xfrm>
            <a:off x="4912100" y="2505000"/>
            <a:ext cx="30000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3.4.1:</a:t>
            </a:r>
            <a:r>
              <a:rPr lang="en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FY25 Inventory Dynamics: Sales vs. Purchase Trends (Apr 2024 – Mar 2025)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5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6" name="Google Shape;856;p55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7" name="Google Shape;857;p55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>
                <a:latin typeface="Neuton ExtraLight"/>
                <a:ea typeface="Neuton ExtraLight"/>
                <a:cs typeface="Neuton ExtraLight"/>
                <a:sym typeface="Neuton ExtraLight"/>
              </a:rPr>
              <a:t>Recommendations</a:t>
            </a:r>
            <a:endParaRPr sz="110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858" name="Google Shape;858;p55"/>
          <p:cNvSpPr txBox="1">
            <a:spLocks noGrp="1"/>
          </p:cNvSpPr>
          <p:nvPr>
            <p:ph type="subTitle" idx="3"/>
          </p:nvPr>
        </p:nvSpPr>
        <p:spPr>
          <a:xfrm>
            <a:off x="1315213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 b="0">
                <a:latin typeface="Neuton ExtraLight"/>
                <a:ea typeface="Neuton ExtraLight"/>
                <a:cs typeface="Neuton ExtraLight"/>
                <a:sym typeface="Neuton ExtraLight"/>
              </a:rPr>
              <a:t>Findings</a:t>
            </a:r>
            <a:endParaRPr sz="1100" b="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859" name="Google Shape;859;p55"/>
          <p:cNvSpPr txBox="1"/>
          <p:nvPr/>
        </p:nvSpPr>
        <p:spPr>
          <a:xfrm>
            <a:off x="607500" y="808300"/>
            <a:ext cx="7929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783F04"/>
                </a:solidFill>
                <a:latin typeface="Neuton Light"/>
                <a:ea typeface="Neuton Light"/>
                <a:cs typeface="Neuton Light"/>
                <a:sym typeface="Neuton Light"/>
              </a:rPr>
              <a:t>Risk Prioritization Using Failure Mode and Effects Analysis (FMEA)</a:t>
            </a:r>
            <a:endParaRPr sz="3600">
              <a:solidFill>
                <a:srgbClr val="783F04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  <p:graphicFrame>
        <p:nvGraphicFramePr>
          <p:cNvPr id="860" name="Google Shape;860;p55"/>
          <p:cNvGraphicFramePr/>
          <p:nvPr/>
        </p:nvGraphicFramePr>
        <p:xfrm>
          <a:off x="1088813" y="2340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{6ACBF7CB-AC3C-427F-857B-167589B0C38D}</a:tableStyleId>
              </a:tblPr>
              <a:tblGrid>
                <a:gridCol w="200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9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Failure Mode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RPN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Notes / Impact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3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 of top 20 contractors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315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~49% of contractor-driven revenue at risk; long recovery time (4+ months)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3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Rising credit defaults from ECs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192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₹16–18L in receivables stuck; affects cash flow and liquidity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3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Seasonal overstocking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Excess stock peaked at 148%; high holding costs, low turnover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3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Inventory misalignment due to demand lag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108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Procurement in March ignored low sales, triggering waste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3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Contractor disengagement (non-A-list)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Reduced redundancy in the contractor channel undermines future resilience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35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Delayed detection of churn risk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144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Annual reviews are too slow; churn could’ve been prevented via monthly tracking</a:t>
                      </a:r>
                      <a:endParaRPr sz="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3500" marR="63500" marT="63500" marB="63500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61" name="Google Shape;861;p55"/>
          <p:cNvSpPr txBox="1"/>
          <p:nvPr/>
        </p:nvSpPr>
        <p:spPr>
          <a:xfrm>
            <a:off x="1088850" y="4555000"/>
            <a:ext cx="696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3: FMEA Summary Table: The </a:t>
            </a:r>
            <a:r>
              <a:rPr lang="en" sz="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highest risk (RPN 315)</a:t>
            </a:r>
            <a:r>
              <a:rPr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over-reliance on top contractors, highlighting the need for retention mechanisms and diversification.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56"/>
          <p:cNvSpPr/>
          <p:nvPr/>
        </p:nvSpPr>
        <p:spPr>
          <a:xfrm>
            <a:off x="847100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67" name="Google Shape;867;p56"/>
          <p:cNvSpPr txBox="1">
            <a:spLocks noGrp="1"/>
          </p:cNvSpPr>
          <p:nvPr>
            <p:ph type="subTitle" idx="6"/>
          </p:nvPr>
        </p:nvSpPr>
        <p:spPr>
          <a:xfrm>
            <a:off x="1250088" y="131800"/>
            <a:ext cx="1440000" cy="360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>
                <a:latin typeface="Neuton ExtraLight"/>
                <a:ea typeface="Neuton ExtraLight"/>
                <a:cs typeface="Neuton ExtraLight"/>
                <a:sym typeface="Neuton ExtraLight"/>
              </a:rPr>
              <a:t>Recommendations</a:t>
            </a:r>
            <a:endParaRPr sz="1100">
              <a:latin typeface="Neuton ExtraLight"/>
              <a:ea typeface="Neuton ExtraLight"/>
              <a:cs typeface="Neuton ExtraLight"/>
              <a:sym typeface="Neuton ExtraLight"/>
            </a:endParaRPr>
          </a:p>
        </p:txBody>
      </p:sp>
      <p:sp>
        <p:nvSpPr>
          <p:cNvPr id="868" name="Google Shape;868;p56"/>
          <p:cNvSpPr txBox="1">
            <a:spLocks noGrp="1"/>
          </p:cNvSpPr>
          <p:nvPr>
            <p:ph type="title"/>
          </p:nvPr>
        </p:nvSpPr>
        <p:spPr>
          <a:xfrm>
            <a:off x="463175" y="739025"/>
            <a:ext cx="7387500" cy="855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>
                <a:solidFill>
                  <a:srgbClr val="783F04"/>
                </a:solidFill>
                <a:latin typeface="Neuton Light"/>
                <a:ea typeface="Neuton Light"/>
                <a:cs typeface="Neuton Light"/>
                <a:sym typeface="Neuton Light"/>
              </a:rPr>
              <a:t>Interpretations &amp; Recommendations</a:t>
            </a:r>
            <a:endParaRPr sz="4000">
              <a:solidFill>
                <a:srgbClr val="783F04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  <p:grpSp>
        <p:nvGrpSpPr>
          <p:cNvPr id="869" name="Google Shape;869;p56"/>
          <p:cNvGrpSpPr/>
          <p:nvPr/>
        </p:nvGrpSpPr>
        <p:grpSpPr>
          <a:xfrm>
            <a:off x="6858000" y="1841188"/>
            <a:ext cx="2286000" cy="3302198"/>
            <a:chOff x="0" y="2295575"/>
            <a:chExt cx="2286000" cy="2847950"/>
          </a:xfrm>
        </p:grpSpPr>
        <p:sp>
          <p:nvSpPr>
            <p:cNvPr id="870" name="Google Shape;870;p56"/>
            <p:cNvSpPr/>
            <p:nvPr/>
          </p:nvSpPr>
          <p:spPr>
            <a:xfrm>
              <a:off x="0" y="2823925"/>
              <a:ext cx="2286000" cy="23196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56"/>
            <p:cNvSpPr/>
            <p:nvPr/>
          </p:nvSpPr>
          <p:spPr>
            <a:xfrm>
              <a:off x="0" y="2295575"/>
              <a:ext cx="2286000" cy="537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2" name="Google Shape;872;p56"/>
          <p:cNvGrpSpPr/>
          <p:nvPr/>
        </p:nvGrpSpPr>
        <p:grpSpPr>
          <a:xfrm>
            <a:off x="2286000" y="1841188"/>
            <a:ext cx="2286000" cy="3302198"/>
            <a:chOff x="0" y="2295575"/>
            <a:chExt cx="2286000" cy="2847950"/>
          </a:xfrm>
        </p:grpSpPr>
        <p:grpSp>
          <p:nvGrpSpPr>
            <p:cNvPr id="873" name="Google Shape;873;p56"/>
            <p:cNvGrpSpPr/>
            <p:nvPr/>
          </p:nvGrpSpPr>
          <p:grpSpPr>
            <a:xfrm>
              <a:off x="0" y="2295575"/>
              <a:ext cx="2286000" cy="2847950"/>
              <a:chOff x="0" y="2295575"/>
              <a:chExt cx="2286000" cy="2847950"/>
            </a:xfrm>
          </p:grpSpPr>
          <p:sp>
            <p:nvSpPr>
              <p:cNvPr id="874" name="Google Shape;874;p56"/>
              <p:cNvSpPr/>
              <p:nvPr/>
            </p:nvSpPr>
            <p:spPr>
              <a:xfrm>
                <a:off x="0" y="2823925"/>
                <a:ext cx="2286000" cy="2319600"/>
              </a:xfrm>
              <a:prstGeom prst="rect">
                <a:avLst/>
              </a:prstGeom>
              <a:solidFill>
                <a:srgbClr val="1B7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56"/>
              <p:cNvSpPr/>
              <p:nvPr/>
            </p:nvSpPr>
            <p:spPr>
              <a:xfrm>
                <a:off x="0" y="2295575"/>
                <a:ext cx="2286000" cy="53700"/>
              </a:xfrm>
              <a:prstGeom prst="rect">
                <a:avLst/>
              </a:prstGeom>
              <a:solidFill>
                <a:srgbClr val="1B7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876" name="Google Shape;876;p56"/>
            <p:cNvCxnSpPr/>
            <p:nvPr/>
          </p:nvCxnSpPr>
          <p:spPr>
            <a:xfrm>
              <a:off x="2286000" y="2295575"/>
              <a:ext cx="0" cy="2837400"/>
            </a:xfrm>
            <a:prstGeom prst="straightConnector1">
              <a:avLst/>
            </a:prstGeom>
            <a:noFill/>
            <a:ln w="9525" cap="flat" cmpd="sng">
              <a:solidFill>
                <a:srgbClr val="83E3DA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  <p:grpSp>
        <p:nvGrpSpPr>
          <p:cNvPr id="877" name="Google Shape;877;p56"/>
          <p:cNvGrpSpPr/>
          <p:nvPr/>
        </p:nvGrpSpPr>
        <p:grpSpPr>
          <a:xfrm>
            <a:off x="0" y="1841188"/>
            <a:ext cx="2286000" cy="3302198"/>
            <a:chOff x="0" y="2295575"/>
            <a:chExt cx="2286000" cy="2847950"/>
          </a:xfrm>
        </p:grpSpPr>
        <p:grpSp>
          <p:nvGrpSpPr>
            <p:cNvPr id="878" name="Google Shape;878;p56"/>
            <p:cNvGrpSpPr/>
            <p:nvPr/>
          </p:nvGrpSpPr>
          <p:grpSpPr>
            <a:xfrm>
              <a:off x="0" y="2295575"/>
              <a:ext cx="2286000" cy="2847950"/>
              <a:chOff x="0" y="2295575"/>
              <a:chExt cx="2286000" cy="2847950"/>
            </a:xfrm>
          </p:grpSpPr>
          <p:sp>
            <p:nvSpPr>
              <p:cNvPr id="879" name="Google Shape;879;p56"/>
              <p:cNvSpPr/>
              <p:nvPr/>
            </p:nvSpPr>
            <p:spPr>
              <a:xfrm>
                <a:off x="0" y="2823925"/>
                <a:ext cx="2286000" cy="2319600"/>
              </a:xfrm>
              <a:prstGeom prst="rect">
                <a:avLst/>
              </a:prstGeom>
              <a:solidFill>
                <a:srgbClr val="1B7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56"/>
              <p:cNvSpPr/>
              <p:nvPr/>
            </p:nvSpPr>
            <p:spPr>
              <a:xfrm>
                <a:off x="0" y="2295575"/>
                <a:ext cx="2286000" cy="53700"/>
              </a:xfrm>
              <a:prstGeom prst="rect">
                <a:avLst/>
              </a:prstGeom>
              <a:solidFill>
                <a:srgbClr val="1B7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1" name="Google Shape;881;p56"/>
            <p:cNvSpPr txBox="1"/>
            <p:nvPr/>
          </p:nvSpPr>
          <p:spPr>
            <a:xfrm>
              <a:off x="216307" y="2441100"/>
              <a:ext cx="16140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>
                  <a:solidFill>
                    <a:srgbClr val="1B786F"/>
                  </a:solidFill>
                  <a:latin typeface="Roboto"/>
                  <a:ea typeface="Roboto"/>
                  <a:cs typeface="Roboto"/>
                  <a:sym typeface="Roboto"/>
                </a:rPr>
                <a:t>INTERPRETATIONS</a:t>
              </a:r>
              <a:endParaRPr sz="1000">
                <a:solidFill>
                  <a:srgbClr val="1B786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882" name="Google Shape;882;p56"/>
            <p:cNvCxnSpPr/>
            <p:nvPr/>
          </p:nvCxnSpPr>
          <p:spPr>
            <a:xfrm>
              <a:off x="2286000" y="2295575"/>
              <a:ext cx="0" cy="2837400"/>
            </a:xfrm>
            <a:prstGeom prst="straightConnector1">
              <a:avLst/>
            </a:prstGeom>
            <a:noFill/>
            <a:ln w="9525" cap="flat" cmpd="sng">
              <a:solidFill>
                <a:srgbClr val="83E3DA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  <p:sp>
        <p:nvSpPr>
          <p:cNvPr id="883" name="Google Shape;883;p56"/>
          <p:cNvSpPr txBox="1"/>
          <p:nvPr/>
        </p:nvSpPr>
        <p:spPr>
          <a:xfrm>
            <a:off x="74700" y="2515100"/>
            <a:ext cx="2136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Contractors Are High-Leverage Enablers, But Operationally Fragile</a:t>
            </a:r>
            <a:endParaRPr sz="1000">
              <a:solidFill>
                <a:schemeClr val="lt1"/>
              </a:solidFill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sp>
        <p:nvSpPr>
          <p:cNvPr id="884" name="Google Shape;884;p56"/>
          <p:cNvSpPr txBox="1"/>
          <p:nvPr/>
        </p:nvSpPr>
        <p:spPr>
          <a:xfrm>
            <a:off x="74700" y="3514250"/>
            <a:ext cx="2136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The EC Segment Is the Strategic Profit Engine</a:t>
            </a:r>
            <a:endParaRPr>
              <a:solidFill>
                <a:schemeClr val="lt1"/>
              </a:solidFill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sp>
        <p:nvSpPr>
          <p:cNvPr id="885" name="Google Shape;885;p56"/>
          <p:cNvSpPr txBox="1"/>
          <p:nvPr/>
        </p:nvSpPr>
        <p:spPr>
          <a:xfrm>
            <a:off x="74700" y="4341500"/>
            <a:ext cx="2136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Retaining Contractors is Costly, Losing Them is Costlier</a:t>
            </a:r>
            <a:endParaRPr>
              <a:solidFill>
                <a:schemeClr val="lt1"/>
              </a:solidFill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sp>
        <p:nvSpPr>
          <p:cNvPr id="886" name="Google Shape;886;p56"/>
          <p:cNvSpPr txBox="1"/>
          <p:nvPr/>
        </p:nvSpPr>
        <p:spPr>
          <a:xfrm>
            <a:off x="2360700" y="4341500"/>
            <a:ext cx="2136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Contractor Impact is Systemic, Not Just Commercial</a:t>
            </a:r>
            <a:endParaRPr>
              <a:solidFill>
                <a:schemeClr val="lt1"/>
              </a:solidFill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sp>
        <p:nvSpPr>
          <p:cNvPr id="887" name="Google Shape;887;p56"/>
          <p:cNvSpPr txBox="1"/>
          <p:nvPr/>
        </p:nvSpPr>
        <p:spPr>
          <a:xfrm>
            <a:off x="2360700" y="2539400"/>
            <a:ext cx="2136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Seasonal Blindness and the Case for EOQ Optimization</a:t>
            </a:r>
            <a:endParaRPr sz="1200">
              <a:solidFill>
                <a:schemeClr val="lt1"/>
              </a:solidFill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sp>
        <p:nvSpPr>
          <p:cNvPr id="888" name="Google Shape;888;p56"/>
          <p:cNvSpPr txBox="1"/>
          <p:nvPr/>
        </p:nvSpPr>
        <p:spPr>
          <a:xfrm>
            <a:off x="2323350" y="3406400"/>
            <a:ext cx="2136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Structural risks present solely in Unregistered Sales (Mostly ECs)</a:t>
            </a:r>
            <a:endParaRPr>
              <a:solidFill>
                <a:schemeClr val="lt1"/>
              </a:solidFill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sp>
        <p:nvSpPr>
          <p:cNvPr id="889" name="Google Shape;889;p56"/>
          <p:cNvSpPr txBox="1"/>
          <p:nvPr/>
        </p:nvSpPr>
        <p:spPr>
          <a:xfrm>
            <a:off x="4650250" y="3838300"/>
            <a:ext cx="21366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Replace the current annual review process (during Diwali bonuses rollout) with monthly reviews to track churn risk and preempt disengagement.</a:t>
            </a:r>
            <a:endParaRPr sz="1100"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sp>
        <p:nvSpPr>
          <p:cNvPr id="890" name="Google Shape;890;p56"/>
          <p:cNvSpPr txBox="1"/>
          <p:nvPr/>
        </p:nvSpPr>
        <p:spPr>
          <a:xfrm>
            <a:off x="6898000" y="2515100"/>
            <a:ext cx="22461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Initiate formal Service Level Agreements (SLAs) or tier-based loyalty programs for contractors like ABHISHEK, RAJKUMAR, BABLU SHARMA, DURGESH JI, and others in the top 10–20 individuals. </a:t>
            </a:r>
            <a:endParaRPr sz="900"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grpSp>
        <p:nvGrpSpPr>
          <p:cNvPr id="891" name="Google Shape;891;p56"/>
          <p:cNvGrpSpPr/>
          <p:nvPr/>
        </p:nvGrpSpPr>
        <p:grpSpPr>
          <a:xfrm>
            <a:off x="4572000" y="1841188"/>
            <a:ext cx="2320800" cy="3302198"/>
            <a:chOff x="0" y="2295575"/>
            <a:chExt cx="2320800" cy="2847950"/>
          </a:xfrm>
        </p:grpSpPr>
        <p:grpSp>
          <p:nvGrpSpPr>
            <p:cNvPr id="892" name="Google Shape;892;p56"/>
            <p:cNvGrpSpPr/>
            <p:nvPr/>
          </p:nvGrpSpPr>
          <p:grpSpPr>
            <a:xfrm>
              <a:off x="0" y="2295575"/>
              <a:ext cx="2286000" cy="2847950"/>
              <a:chOff x="0" y="2295575"/>
              <a:chExt cx="2286000" cy="2847950"/>
            </a:xfrm>
          </p:grpSpPr>
          <p:sp>
            <p:nvSpPr>
              <p:cNvPr id="893" name="Google Shape;893;p56"/>
              <p:cNvSpPr/>
              <p:nvPr/>
            </p:nvSpPr>
            <p:spPr>
              <a:xfrm>
                <a:off x="0" y="2823925"/>
                <a:ext cx="2286000" cy="2319600"/>
              </a:xfrm>
              <a:prstGeom prst="rect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56"/>
              <p:cNvSpPr/>
              <p:nvPr/>
            </p:nvSpPr>
            <p:spPr>
              <a:xfrm>
                <a:off x="0" y="2295575"/>
                <a:ext cx="2286000" cy="53700"/>
              </a:xfrm>
              <a:prstGeom prst="rect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95" name="Google Shape;895;p56"/>
            <p:cNvSpPr txBox="1"/>
            <p:nvPr/>
          </p:nvSpPr>
          <p:spPr>
            <a:xfrm>
              <a:off x="216309" y="2441100"/>
              <a:ext cx="1816200" cy="26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0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RECOMMENDATIONS</a:t>
              </a:r>
              <a:endParaRPr sz="100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896" name="Google Shape;896;p56"/>
            <p:cNvCxnSpPr/>
            <p:nvPr/>
          </p:nvCxnSpPr>
          <p:spPr>
            <a:xfrm>
              <a:off x="2286000" y="2295575"/>
              <a:ext cx="0" cy="2837400"/>
            </a:xfrm>
            <a:prstGeom prst="straightConnector1">
              <a:avLst/>
            </a:prstGeom>
            <a:noFill/>
            <a:ln w="9525" cap="flat" cmpd="sng">
              <a:solidFill>
                <a:srgbClr val="D9D9D9"/>
              </a:solidFill>
              <a:prstDash val="dot"/>
              <a:round/>
              <a:headEnd type="none" w="sm" len="sm"/>
              <a:tailEnd type="none" w="sm" len="sm"/>
            </a:ln>
          </p:spPr>
        </p:cxnSp>
        <p:sp>
          <p:nvSpPr>
            <p:cNvPr id="897" name="Google Shape;897;p56"/>
            <p:cNvSpPr txBox="1"/>
            <p:nvPr/>
          </p:nvSpPr>
          <p:spPr>
            <a:xfrm>
              <a:off x="74700" y="2897741"/>
              <a:ext cx="2246100" cy="51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Heebo ExtraLight"/>
                  <a:ea typeface="Heebo ExtraLight"/>
                  <a:cs typeface="Heebo ExtraLight"/>
                  <a:sym typeface="Heebo ExtraLight"/>
                </a:rPr>
                <a:t>Change contractor contracts so they’re rewarded for customer satisfaction, not just task completion.</a:t>
              </a:r>
              <a:endParaRPr sz="900">
                <a:solidFill>
                  <a:srgbClr val="5E5E5E"/>
                </a:solidFill>
                <a:latin typeface="Heebo ExtraLight"/>
                <a:ea typeface="Heebo ExtraLight"/>
                <a:cs typeface="Heebo ExtraLight"/>
                <a:sym typeface="Heebo ExtraLight"/>
              </a:endParaRPr>
            </a:p>
          </p:txBody>
        </p:sp>
      </p:grpSp>
      <p:sp>
        <p:nvSpPr>
          <p:cNvPr id="898" name="Google Shape;898;p56"/>
          <p:cNvSpPr txBox="1"/>
          <p:nvPr/>
        </p:nvSpPr>
        <p:spPr>
          <a:xfrm>
            <a:off x="4666700" y="3122838"/>
            <a:ext cx="2136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Replace the current annual review process (during Diwali bonuses rollout) with monthly reviews to track churn risk and preempt disengagement.</a:t>
            </a:r>
            <a:endParaRPr sz="900"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sp>
        <p:nvSpPr>
          <p:cNvPr id="899" name="Google Shape;899;p56"/>
          <p:cNvSpPr txBox="1"/>
          <p:nvPr/>
        </p:nvSpPr>
        <p:spPr>
          <a:xfrm>
            <a:off x="6898000" y="3406400"/>
            <a:ext cx="2136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Focus on rebalancing the contractor lists by targeting onboarding from B/C-list contractors while keeping retention efforts to only A-List.</a:t>
            </a:r>
            <a:endParaRPr sz="900"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sp>
        <p:nvSpPr>
          <p:cNvPr id="900" name="Google Shape;900;p56"/>
          <p:cNvSpPr txBox="1"/>
          <p:nvPr/>
        </p:nvSpPr>
        <p:spPr>
          <a:xfrm>
            <a:off x="4646700" y="3838300"/>
            <a:ext cx="2320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Integrate promo codes, cashback offers, and fast-delivery benefits on the official digital sales platform to attract organic customers.</a:t>
            </a:r>
            <a:endParaRPr sz="900"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  <p:sp>
        <p:nvSpPr>
          <p:cNvPr id="901" name="Google Shape;901;p56"/>
          <p:cNvSpPr txBox="1"/>
          <p:nvPr/>
        </p:nvSpPr>
        <p:spPr>
          <a:xfrm>
            <a:off x="6898000" y="4159400"/>
            <a:ext cx="21366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Heebo ExtraLight"/>
                <a:ea typeface="Heebo ExtraLight"/>
                <a:cs typeface="Heebo ExtraLight"/>
                <a:sym typeface="Heebo ExtraLight"/>
              </a:rPr>
              <a:t>Use channel-mix targets by aiming to first gradually lower the contractor-influenced EC sales to 50-60% by Q3 FY26 and set quarterly reviews to rebalance. </a:t>
            </a:r>
            <a:endParaRPr sz="900">
              <a:latin typeface="Heebo ExtraLight"/>
              <a:ea typeface="Heebo ExtraLight"/>
              <a:cs typeface="Heebo ExtraLight"/>
              <a:sym typeface="Heebo Extra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1225</Words>
  <Application>Microsoft Office PowerPoint</Application>
  <PresentationFormat>On-screen Show (16:9)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31" baseType="lpstr">
      <vt:lpstr>Arial</vt:lpstr>
      <vt:lpstr>Heebo Light</vt:lpstr>
      <vt:lpstr>Chakra Petch SemiBold</vt:lpstr>
      <vt:lpstr>Neuton</vt:lpstr>
      <vt:lpstr>Neuton ExtraLight</vt:lpstr>
      <vt:lpstr>Onest Thin</vt:lpstr>
      <vt:lpstr>Onest</vt:lpstr>
      <vt:lpstr>Chakra Petch</vt:lpstr>
      <vt:lpstr>Hanken Grotesk</vt:lpstr>
      <vt:lpstr>Playfair Display</vt:lpstr>
      <vt:lpstr>Hanken Grotesk Light</vt:lpstr>
      <vt:lpstr>Hanken Grotesk Medium</vt:lpstr>
      <vt:lpstr>Bebas Neue</vt:lpstr>
      <vt:lpstr>Roboto</vt:lpstr>
      <vt:lpstr>Neuton Light</vt:lpstr>
      <vt:lpstr>BIZ UDPMincho</vt:lpstr>
      <vt:lpstr>Heebo ExtraLight</vt:lpstr>
      <vt:lpstr>Times New Roman</vt:lpstr>
      <vt:lpstr>Hanken Grotesk SemiBold</vt:lpstr>
      <vt:lpstr>Red Hat Text</vt:lpstr>
      <vt:lpstr>STRATEGIC PITCH PRESENTATION</vt:lpstr>
      <vt:lpstr>Minimizing Contractor Reliance &amp; Credit Purchases to Strengthen Direct Customer Relationship &amp; Improve Cash Flow in a  Plywood &amp; Interior Materials Business  Project Presentation</vt:lpstr>
      <vt:lpstr>Organization 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Interpretations &amp;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Vaibhav Satish</cp:lastModifiedBy>
  <cp:revision>1</cp:revision>
  <dcterms:modified xsi:type="dcterms:W3CDTF">2026-02-17T06:28:37Z</dcterms:modified>
</cp:coreProperties>
</file>